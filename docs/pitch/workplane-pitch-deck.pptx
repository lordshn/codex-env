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video/mp4" Extension="mp4"/>
  <Override ContentType="application/vnd.openxmlformats-officedocument.presentationml.presentation.main+xml" PartName="/ppt/presentation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hdr="0" ftr="0" sldNu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2.png"/><Relationship Id="rId3" Type="http://schemas.openxmlformats.org/officeDocument/2006/relationships/image" Target="../media/Presenton_Native_Image_3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5.png"/><Relationship Id="rId3" Type="http://schemas.openxmlformats.org/officeDocument/2006/relationships/image" Target="../media/Presenton_Native_Image_6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7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1.png"/><Relationship Id="rId3" Type="http://schemas.openxmlformats.org/officeDocument/2006/relationships/image" Target="../media/Presenton_Native_Image_1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7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Shape 716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FFFFFF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717" name="Shape 717"/>
          <p:cNvSpPr/>
          <p:nvPr/>
        </p:nvSpPr>
        <p:spPr>
          <a:xfrm>
            <a:off x="10532715" y="381000"/>
            <a:ext cx="1068735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DCE8FF"/>
                </a:solidFill>
                <a:latin typeface="Inter"/>
                <a:ea typeface="Inter"/>
              </a:rPr>
              <a:t>THE PROMISE</a:t>
            </a:r>
            <a:endParaRPr lang="en-US"/>
          </a:p>
        </p:txBody>
      </p:sp>
      <p:sp>
        <p:nvSpPr>
          <p:cNvPr id="718" name="Shape 718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FFFFFF"/>
                </a:solidFill>
                <a:latin typeface="Sora"/>
                <a:ea typeface="Sora"/>
              </a:rPr>
              <a:t>AI moves fast.</a:t>
            </a:r>
            <a:r>
              <a:rPr sz="4050" b="1" i="0" spc="0">
                <a:solidFill>
                  <a:srgbClr val="FFFFFF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FFFFFF"/>
                </a:solidFill>
                <a:latin typeface="Sora"/>
                <a:ea typeface="Sora"/>
              </a:rPr>
              <a:t>Your company stays in control.</a:t>
            </a:r>
            <a:endParaRPr lang="en-US"/>
          </a:p>
        </p:txBody>
      </p:sp>
      <p:sp>
        <p:nvSpPr>
          <p:cNvPr id="719" name="Shape 719"/>
          <p:cNvSpPr/>
          <p:nvPr/>
        </p:nvSpPr>
        <p:spPr>
          <a:xfrm>
            <a:off x="609600" y="2712541"/>
            <a:ext cx="10991850" cy="82867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250" b="0" i="0">
                <a:solidFill>
                  <a:srgbClr val="DCE8FF"/>
                </a:solidFill>
                <a:latin typeface="Inter"/>
                <a:ea typeface="Inter"/>
              </a:rPr>
              <a:t>One company platform for approved</a:t>
            </a:r>
            <a:r>
              <a:rPr sz="2250" b="0" i="0">
                <a:solidFill>
                  <a:srgbClr val="DCE8FF"/>
                </a:solidFill>
                <a:latin typeface="Inter"/>
                <a:ea typeface="Inter"/>
              </a:rPr>
              <a:t xml:space="preserve">
</a:t>
            </a:r>
            <a:r>
              <a:rPr sz="2250" b="0" i="0">
                <a:solidFill>
                  <a:srgbClr val="DCE8FF"/>
                </a:solidFill>
                <a:latin typeface="Inter"/>
                <a:ea typeface="Inter"/>
              </a:rPr>
              <a:t>AI coding and agent work.</a:t>
            </a:r>
            <a:endParaRPr lang="en-US"/>
          </a:p>
        </p:txBody>
      </p:sp>
      <p:pic>
        <p:nvPicPr>
          <p:cNvPr id="244" name="Presenton Native Image 1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4065091"/>
            <a:ext cx="10972800" cy="528638"/>
          </a:xfrm>
          <a:prstGeom prst="rect">
            <a:avLst/>
          </a:prstGeom>
        </p:spPr>
      </p:pic>
      <p:sp>
        <p:nvSpPr>
          <p:cNvPr id="720" name="Shape 720"/>
          <p:cNvSpPr/>
          <p:nvPr/>
        </p:nvSpPr>
        <p:spPr>
          <a:xfrm>
            <a:off x="609600" y="4293691"/>
            <a:ext cx="1797397" cy="3000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363"/>
              </a:lnSpc>
              <a:buNone/>
            </a:pPr>
            <a:r>
              <a:rPr sz="1575" b="0" i="0">
                <a:solidFill>
                  <a:srgbClr val="FFFFFF"/>
                </a:solidFill>
                <a:latin typeface="Inter"/>
                <a:ea typeface="Inter"/>
              </a:rPr>
              <a:t>Enable employees.</a:t>
            </a:r>
            <a:endParaRPr lang="en-US"/>
          </a:p>
        </p:txBody>
      </p:sp>
      <p:sp>
        <p:nvSpPr>
          <p:cNvPr id="721" name="Shape 721"/>
          <p:cNvSpPr/>
          <p:nvPr/>
        </p:nvSpPr>
        <p:spPr>
          <a:xfrm>
            <a:off x="2959447" y="4293691"/>
            <a:ext cx="2156073" cy="3000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363"/>
              </a:lnSpc>
              <a:buNone/>
            </a:pPr>
            <a:r>
              <a:rPr sz="1575" b="0" i="0">
                <a:solidFill>
                  <a:srgbClr val="FFFFFF"/>
                </a:solidFill>
                <a:latin typeface="Inter"/>
                <a:ea typeface="Inter"/>
              </a:rPr>
              <a:t>Protect company data.</a:t>
            </a:r>
            <a:endParaRPr lang="en-US"/>
          </a:p>
        </p:txBody>
      </p:sp>
      <p:sp>
        <p:nvSpPr>
          <p:cNvPr id="722" name="Shape 722"/>
          <p:cNvSpPr/>
          <p:nvPr/>
        </p:nvSpPr>
        <p:spPr>
          <a:xfrm>
            <a:off x="5667970" y="4293691"/>
            <a:ext cx="1713012" cy="3000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363"/>
              </a:lnSpc>
              <a:buNone/>
            </a:pPr>
            <a:r>
              <a:rPr sz="1575" b="0" i="0">
                <a:solidFill>
                  <a:srgbClr val="FFFFFF"/>
                </a:solidFill>
                <a:latin typeface="Inter"/>
                <a:ea typeface="Inter"/>
              </a:rPr>
              <a:t>Stay accountable.</a:t>
            </a:r>
            <a:endParaRPr lang="en-US"/>
          </a:p>
        </p:txBody>
      </p:sp>
      <p:sp>
        <p:nvSpPr>
          <p:cNvPr id="723" name="Shape 723"/>
          <p:cNvSpPr/>
          <p:nvPr/>
        </p:nvSpPr>
        <p:spPr>
          <a:xfrm>
            <a:off x="609600" y="6419850"/>
            <a:ext cx="1993255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DCE8FF"/>
                </a:solidFill>
                <a:latin typeface="Inter"/>
                <a:ea typeface="Inter"/>
              </a:rPr>
              <a:t>WORKPLANE / PRODUCT CONCEPT</a:t>
            </a:r>
            <a:endParaRPr lang="en-US"/>
          </a:p>
        </p:txBody>
      </p:sp>
      <p:sp>
        <p:nvSpPr>
          <p:cNvPr id="724" name="Shape 724"/>
          <p:cNvSpPr/>
          <p:nvPr/>
        </p:nvSpPr>
        <p:spPr>
          <a:xfrm>
            <a:off x="11239351" y="6419850"/>
            <a:ext cx="362099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DCE8FF"/>
                </a:solidFill>
                <a:latin typeface="Sora"/>
                <a:ea typeface="Sora"/>
              </a:rPr>
              <a:t>01 / 12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Shape 725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182230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726" name="Shape 726"/>
          <p:cNvSpPr/>
          <p:nvPr/>
        </p:nvSpPr>
        <p:spPr>
          <a:xfrm>
            <a:off x="10495955" y="381000"/>
            <a:ext cx="1105495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1647D8"/>
                </a:solidFill>
                <a:latin typeface="Inter"/>
                <a:ea typeface="Inter"/>
              </a:rPr>
              <a:t>THE PROBLEM</a:t>
            </a:r>
            <a:endParaRPr lang="en-US"/>
          </a:p>
        </p:txBody>
      </p:sp>
      <p:sp>
        <p:nvSpPr>
          <p:cNvPr id="727" name="Shape 727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The tools arrived.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The control didn’t.</a:t>
            </a:r>
            <a:endParaRPr lang="en-US"/>
          </a:p>
        </p:txBody>
      </p:sp>
      <p:pic>
        <p:nvPicPr>
          <p:cNvPr id="245" name="Presenton Native Image 2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2817316"/>
            <a:ext cx="3435251" cy="1495425"/>
          </a:xfrm>
          <a:prstGeom prst="rect">
            <a:avLst/>
          </a:prstGeom>
        </p:spPr>
      </p:pic>
      <p:sp>
        <p:nvSpPr>
          <p:cNvPr id="728" name="Shape 728"/>
          <p:cNvSpPr/>
          <p:nvPr/>
        </p:nvSpPr>
        <p:spPr>
          <a:xfrm>
            <a:off x="609600" y="3064966"/>
            <a:ext cx="3454301" cy="4286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75"/>
              </a:lnSpc>
              <a:buNone/>
            </a:pPr>
            <a:r>
              <a:rPr sz="2250" b="1" i="0">
                <a:solidFill>
                  <a:srgbClr val="182230"/>
                </a:solidFill>
                <a:latin typeface="Sora"/>
                <a:ea typeface="Sora"/>
              </a:rPr>
              <a:t>Data</a:t>
            </a:r>
            <a:endParaRPr lang="en-US"/>
          </a:p>
        </p:txBody>
      </p:sp>
      <p:sp>
        <p:nvSpPr>
          <p:cNvPr id="729" name="Shape 729"/>
          <p:cNvSpPr/>
          <p:nvPr/>
        </p:nvSpPr>
        <p:spPr>
          <a:xfrm>
            <a:off x="609600" y="3645991"/>
            <a:ext cx="3454301" cy="6667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625"/>
              </a:lnSpc>
              <a:buNone/>
            </a:pPr>
            <a:r>
              <a:rPr sz="1875" b="0" i="0">
                <a:solidFill>
                  <a:srgbClr val="667085"/>
                </a:solidFill>
                <a:latin typeface="Inter"/>
                <a:ea typeface="Inter"/>
              </a:rPr>
              <a:t>Where does company context go?</a:t>
            </a:r>
            <a:endParaRPr lang="en-US"/>
          </a:p>
        </p:txBody>
      </p:sp>
      <p:pic>
        <p:nvPicPr>
          <p:cNvPr id="246" name="Presenton Native Image 3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4378226" y="2817316"/>
            <a:ext cx="3435400" cy="1495425"/>
          </a:xfrm>
          <a:prstGeom prst="rect">
            <a:avLst/>
          </a:prstGeom>
        </p:spPr>
      </p:pic>
      <p:sp>
        <p:nvSpPr>
          <p:cNvPr id="730" name="Shape 730"/>
          <p:cNvSpPr/>
          <p:nvPr/>
        </p:nvSpPr>
        <p:spPr>
          <a:xfrm>
            <a:off x="4378226" y="3064966"/>
            <a:ext cx="3454450" cy="4286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75"/>
              </a:lnSpc>
              <a:buNone/>
            </a:pPr>
            <a:r>
              <a:rPr sz="2250" b="1" i="0">
                <a:solidFill>
                  <a:srgbClr val="182230"/>
                </a:solidFill>
                <a:latin typeface="Sora"/>
                <a:ea typeface="Sora"/>
              </a:rPr>
              <a:t>Agents</a:t>
            </a:r>
            <a:endParaRPr lang="en-US"/>
          </a:p>
        </p:txBody>
      </p:sp>
      <p:sp>
        <p:nvSpPr>
          <p:cNvPr id="731" name="Shape 731"/>
          <p:cNvSpPr/>
          <p:nvPr/>
        </p:nvSpPr>
        <p:spPr>
          <a:xfrm>
            <a:off x="4378226" y="3645991"/>
            <a:ext cx="3454450" cy="6667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625"/>
              </a:lnSpc>
              <a:buNone/>
            </a:pPr>
            <a:r>
              <a:rPr sz="1875" b="0" i="0">
                <a:solidFill>
                  <a:srgbClr val="667085"/>
                </a:solidFill>
                <a:latin typeface="Inter"/>
                <a:ea typeface="Inter"/>
              </a:rPr>
              <a:t>What can they access and change?</a:t>
            </a:r>
            <a:endParaRPr lang="en-US"/>
          </a:p>
        </p:txBody>
      </p:sp>
      <p:pic>
        <p:nvPicPr>
          <p:cNvPr id="247" name="Presenton Native Image 4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8147000" y="2817316"/>
            <a:ext cx="3435251" cy="1495425"/>
          </a:xfrm>
          <a:prstGeom prst="rect">
            <a:avLst/>
          </a:prstGeom>
        </p:spPr>
      </p:pic>
      <p:sp>
        <p:nvSpPr>
          <p:cNvPr id="732" name="Shape 732"/>
          <p:cNvSpPr/>
          <p:nvPr/>
        </p:nvSpPr>
        <p:spPr>
          <a:xfrm>
            <a:off x="8147000" y="3064966"/>
            <a:ext cx="3454301" cy="4286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75"/>
              </a:lnSpc>
              <a:buNone/>
            </a:pPr>
            <a:r>
              <a:rPr sz="2250" b="1" i="0">
                <a:solidFill>
                  <a:srgbClr val="182230"/>
                </a:solidFill>
                <a:latin typeface="Sora"/>
                <a:ea typeface="Sora"/>
              </a:rPr>
              <a:t>Spending</a:t>
            </a:r>
            <a:endParaRPr lang="en-US"/>
          </a:p>
        </p:txBody>
      </p:sp>
      <p:sp>
        <p:nvSpPr>
          <p:cNvPr id="733" name="Shape 733"/>
          <p:cNvSpPr/>
          <p:nvPr/>
        </p:nvSpPr>
        <p:spPr>
          <a:xfrm>
            <a:off x="8147000" y="3645991"/>
            <a:ext cx="3454301" cy="6667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625"/>
              </a:lnSpc>
              <a:buNone/>
            </a:pPr>
            <a:r>
              <a:rPr sz="1875" b="0" i="0">
                <a:solidFill>
                  <a:srgbClr val="667085"/>
                </a:solidFill>
                <a:latin typeface="Inter"/>
                <a:ea typeface="Inter"/>
              </a:rPr>
              <a:t>What are we paying for—and getting back?</a:t>
            </a:r>
            <a:endParaRPr lang="en-US"/>
          </a:p>
        </p:txBody>
      </p:sp>
      <p:sp>
        <p:nvSpPr>
          <p:cNvPr id="734" name="Shape 734"/>
          <p:cNvSpPr/>
          <p:nvPr/>
        </p:nvSpPr>
        <p:spPr>
          <a:xfrm>
            <a:off x="609600" y="6419850"/>
            <a:ext cx="1993255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Inter"/>
                <a:ea typeface="Inter"/>
              </a:rPr>
              <a:t>WORKPLANE / PRODUCT CONCEPT</a:t>
            </a:r>
            <a:endParaRPr lang="en-US"/>
          </a:p>
        </p:txBody>
      </p:sp>
      <p:sp>
        <p:nvSpPr>
          <p:cNvPr id="735" name="Shape 735"/>
          <p:cNvSpPr/>
          <p:nvPr/>
        </p:nvSpPr>
        <p:spPr>
          <a:xfrm>
            <a:off x="11216729" y="6419850"/>
            <a:ext cx="384721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Sora"/>
                <a:ea typeface="Sora"/>
              </a:rPr>
              <a:t>02 / 12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Shape 736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182230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737" name="Shape 737"/>
          <p:cNvSpPr/>
          <p:nvPr/>
        </p:nvSpPr>
        <p:spPr>
          <a:xfrm>
            <a:off x="10797332" y="381000"/>
            <a:ext cx="804118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1647D8"/>
                </a:solidFill>
                <a:latin typeface="Inter"/>
                <a:ea typeface="Inter"/>
              </a:rPr>
              <a:t>WHY NOW</a:t>
            </a:r>
            <a:endParaRPr lang="en-US"/>
          </a:p>
        </p:txBody>
      </p:sp>
      <p:sp>
        <p:nvSpPr>
          <p:cNvPr id="738" name="Shape 738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When AI can act,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policy must act too.</a:t>
            </a:r>
            <a:endParaRPr lang="en-US"/>
          </a:p>
        </p:txBody>
      </p:sp>
      <p:pic>
        <p:nvPicPr>
          <p:cNvPr id="248" name="Presenton Native Image 5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2807791"/>
            <a:ext cx="4476750" cy="1344811"/>
          </a:xfrm>
          <a:prstGeom prst="rect">
            <a:avLst/>
          </a:prstGeom>
        </p:spPr>
      </p:pic>
      <p:sp>
        <p:nvSpPr>
          <p:cNvPr id="739" name="Shape 739"/>
          <p:cNvSpPr/>
          <p:nvPr/>
        </p:nvSpPr>
        <p:spPr>
          <a:xfrm>
            <a:off x="609600" y="3026866"/>
            <a:ext cx="4495800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 spc="150">
                <a:solidFill>
                  <a:srgbClr val="1647D8"/>
                </a:solidFill>
                <a:latin typeface="Inter"/>
                <a:ea typeface="Inter"/>
              </a:rPr>
              <a:t>ASSISTANTS SUGGEST</a:t>
            </a:r>
            <a:endParaRPr lang="en-US"/>
          </a:p>
        </p:txBody>
      </p:sp>
      <p:sp>
        <p:nvSpPr>
          <p:cNvPr id="740" name="Shape 740"/>
          <p:cNvSpPr/>
          <p:nvPr/>
        </p:nvSpPr>
        <p:spPr>
          <a:xfrm>
            <a:off x="609600" y="3379291"/>
            <a:ext cx="449580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0" i="0">
                <a:solidFill>
                  <a:srgbClr val="667085"/>
                </a:solidFill>
                <a:latin typeface="Inter"/>
                <a:ea typeface="Inter"/>
              </a:rPr>
              <a:t>People review the answer.</a:t>
            </a:r>
            <a:endParaRPr lang="en-US"/>
          </a:p>
        </p:txBody>
      </p:sp>
      <p:pic>
        <p:nvPicPr>
          <p:cNvPr id="249" name="Presenton Native Image 6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562600" y="2807791"/>
            <a:ext cx="6019800" cy="1344811"/>
          </a:xfrm>
          <a:prstGeom prst="rect">
            <a:avLst/>
          </a:prstGeom>
        </p:spPr>
      </p:pic>
      <p:sp>
        <p:nvSpPr>
          <p:cNvPr id="741" name="Shape 741"/>
          <p:cNvSpPr/>
          <p:nvPr/>
        </p:nvSpPr>
        <p:spPr>
          <a:xfrm>
            <a:off x="5562600" y="3026866"/>
            <a:ext cx="6038850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 spc="150">
                <a:solidFill>
                  <a:srgbClr val="1647D8"/>
                </a:solidFill>
                <a:latin typeface="Inter"/>
                <a:ea typeface="Inter"/>
              </a:rPr>
              <a:t>AGENTS EXECUTE</a:t>
            </a:r>
            <a:endParaRPr lang="en-US"/>
          </a:p>
        </p:txBody>
      </p:sp>
      <p:sp>
        <p:nvSpPr>
          <p:cNvPr id="742" name="Shape 742"/>
          <p:cNvSpPr/>
          <p:nvPr/>
        </p:nvSpPr>
        <p:spPr>
          <a:xfrm>
            <a:off x="5562600" y="3379291"/>
            <a:ext cx="6038850" cy="77331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045"/>
              </a:lnSpc>
              <a:buNone/>
            </a:pPr>
            <a:r>
              <a:rPr sz="2175" b="0" i="0">
                <a:solidFill>
                  <a:srgbClr val="182230"/>
                </a:solidFill>
                <a:latin typeface="Inter"/>
                <a:ea typeface="Inter"/>
              </a:rPr>
              <a:t>They read context, call tools</a:t>
            </a:r>
            <a:r>
              <a:rPr sz="2175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2175" b="0" i="0">
                <a:solidFill>
                  <a:srgbClr val="182230"/>
                </a:solidFill>
                <a:latin typeface="Inter"/>
                <a:ea typeface="Inter"/>
              </a:rPr>
              <a:t>and run commands.</a:t>
            </a:r>
            <a:endParaRPr lang="en-US"/>
          </a:p>
        </p:txBody>
      </p:sp>
      <p:sp>
        <p:nvSpPr>
          <p:cNvPr id="743" name="Shape 743"/>
          <p:cNvSpPr/>
          <p:nvPr/>
        </p:nvSpPr>
        <p:spPr>
          <a:xfrm>
            <a:off x="609600" y="4562177"/>
            <a:ext cx="10991850" cy="37147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925"/>
              </a:lnSpc>
              <a:buNone/>
            </a:pPr>
            <a:r>
              <a:rPr sz="1950" b="0" i="0">
                <a:solidFill>
                  <a:srgbClr val="1647D8"/>
                </a:solidFill>
                <a:latin typeface="Inter"/>
                <a:ea typeface="Inter"/>
              </a:rPr>
              <a:t>Company rules need to work where the action happens.</a:t>
            </a:r>
            <a:endParaRPr lang="en-US"/>
          </a:p>
        </p:txBody>
      </p:sp>
      <p:sp>
        <p:nvSpPr>
          <p:cNvPr id="744" name="Shape 744"/>
          <p:cNvSpPr/>
          <p:nvPr/>
        </p:nvSpPr>
        <p:spPr>
          <a:xfrm>
            <a:off x="609600" y="6419850"/>
            <a:ext cx="5635526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Inter"/>
                <a:ea typeface="Inter"/>
              </a:rPr>
              <a:t xml:space="preserve">WORKPLANE / PRODUCT CONCEPT • </a:t>
            </a:r>
            <a:r>
              <a:rPr sz="900" b="0" i="0" u="sng">
                <a:solidFill>
                  <a:srgbClr val="667085"/>
                </a:solidFill>
                <a:uFill>
                  <a:solidFill>
                    <a:srgbClr val="667085"/>
                  </a:solidFill>
                </a:uFill>
                <a:latin typeface="Inter"/>
                <a:ea typeface="Inter"/>
              </a:rPr>
              <a:t>Microsoft agent approval disclosure</a:t>
            </a:r>
            <a:r>
              <a:rPr sz="900" b="0" i="0">
                <a:solidFill>
                  <a:srgbClr val="667085"/>
                </a:solidFill>
                <a:latin typeface="Inter"/>
                <a:ea typeface="Inter"/>
              </a:rPr>
              <a:t xml:space="preserve"> / </a:t>
            </a:r>
            <a:r>
              <a:rPr sz="900" b="0" i="0" u="sng">
                <a:solidFill>
                  <a:srgbClr val="667085"/>
                </a:solidFill>
                <a:uFill>
                  <a:solidFill>
                    <a:srgbClr val="667085"/>
                  </a:solidFill>
                </a:uFill>
                <a:latin typeface="Inter"/>
                <a:ea typeface="Inter"/>
              </a:rPr>
              <a:t>MCP permission disclosure</a:t>
            </a:r>
            <a:endParaRPr lang="en-US"/>
          </a:p>
        </p:txBody>
      </p:sp>
      <p:sp>
        <p:nvSpPr>
          <p:cNvPr id="745" name="Shape 745"/>
          <p:cNvSpPr/>
          <p:nvPr/>
        </p:nvSpPr>
        <p:spPr>
          <a:xfrm>
            <a:off x="11217176" y="6419850"/>
            <a:ext cx="384274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Sora"/>
                <a:ea typeface="Sora"/>
              </a:rPr>
              <a:t>03 / 12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Shape 746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182230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747" name="Shape 747"/>
          <p:cNvSpPr/>
          <p:nvPr/>
        </p:nvSpPr>
        <p:spPr>
          <a:xfrm>
            <a:off x="10431512" y="381000"/>
            <a:ext cx="1169938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1647D8"/>
                </a:solidFill>
                <a:latin typeface="Inter"/>
                <a:ea typeface="Inter"/>
              </a:rPr>
              <a:t>THE SOLUTION</a:t>
            </a:r>
            <a:endParaRPr lang="en-US"/>
          </a:p>
        </p:txBody>
      </p:sp>
      <p:sp>
        <p:nvSpPr>
          <p:cNvPr id="748" name="Shape 748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One place to make AI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ready for company work.</a:t>
            </a:r>
            <a:endParaRPr lang="en-US"/>
          </a:p>
        </p:txBody>
      </p:sp>
      <p:sp>
        <p:nvSpPr>
          <p:cNvPr id="749" name="Shape 749"/>
          <p:cNvSpPr/>
          <p:nvPr/>
        </p:nvSpPr>
        <p:spPr>
          <a:xfrm>
            <a:off x="609600" y="2817316"/>
            <a:ext cx="5343525" cy="1794272"/>
          </a:xfrm>
          <a:prstGeom prst="rect">
            <a:avLst/>
          </a:prstGeom>
          <a:solidFill>
            <a:srgbClr val="FFFFFF"/>
          </a:solidFill>
          <a:ln w="9525">
            <a:solidFill>
              <a:srgbClr val="C4D5F8"/>
            </a:solidFill>
          </a:ln>
        </p:spPr>
        <p:txBody>
          <a:bodyPr/>
          <a:lstStyle/>
          <a:p/>
        </p:txBody>
      </p:sp>
      <p:sp>
        <p:nvSpPr>
          <p:cNvPr id="750" name="Shape 750"/>
          <p:cNvSpPr/>
          <p:nvPr/>
        </p:nvSpPr>
        <p:spPr>
          <a:xfrm>
            <a:off x="904875" y="3112591"/>
            <a:ext cx="4772025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 spc="150">
                <a:solidFill>
                  <a:srgbClr val="1647D8"/>
                </a:solidFill>
                <a:latin typeface="Inter"/>
                <a:ea typeface="Inter"/>
              </a:rPr>
              <a:t>THE COMPANY CONFIGURES</a:t>
            </a:r>
            <a:endParaRPr lang="en-US"/>
          </a:p>
        </p:txBody>
      </p:sp>
      <p:sp>
        <p:nvSpPr>
          <p:cNvPr id="751" name="Shape 751"/>
          <p:cNvSpPr/>
          <p:nvPr/>
        </p:nvSpPr>
        <p:spPr>
          <a:xfrm>
            <a:off x="904875" y="3493591"/>
            <a:ext cx="4772025" cy="822722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40"/>
              </a:lnSpc>
              <a:buNone/>
            </a:pPr>
            <a:r>
              <a:rPr sz="2400" b="0" i="0">
                <a:solidFill>
                  <a:srgbClr val="182230"/>
                </a:solidFill>
                <a:latin typeface="Inter"/>
                <a:ea typeface="Inter"/>
              </a:rPr>
              <a:t>Approved models, tools,</a:t>
            </a:r>
            <a:r>
              <a:rPr sz="2400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2400" b="0" i="0">
                <a:solidFill>
                  <a:srgbClr val="182230"/>
                </a:solidFill>
                <a:latin typeface="Inter"/>
                <a:ea typeface="Inter"/>
              </a:rPr>
              <a:t>context and rules.</a:t>
            </a:r>
            <a:endParaRPr lang="en-US"/>
          </a:p>
        </p:txBody>
      </p:sp>
      <p:sp>
        <p:nvSpPr>
          <p:cNvPr id="752" name="Shape 752"/>
          <p:cNvSpPr/>
          <p:nvPr/>
        </p:nvSpPr>
        <p:spPr>
          <a:xfrm>
            <a:off x="6238875" y="2817316"/>
            <a:ext cx="5343525" cy="1794272"/>
          </a:xfrm>
          <a:prstGeom prst="rect">
            <a:avLst/>
          </a:prstGeom>
          <a:solidFill>
            <a:srgbClr val="DCE8FF"/>
          </a:solidFill>
        </p:spPr>
        <p:txBody>
          <a:bodyPr/>
          <a:lstStyle/>
          <a:p/>
        </p:txBody>
      </p:sp>
      <p:sp>
        <p:nvSpPr>
          <p:cNvPr id="753" name="Shape 753"/>
          <p:cNvSpPr/>
          <p:nvPr/>
        </p:nvSpPr>
        <p:spPr>
          <a:xfrm>
            <a:off x="6524625" y="3103066"/>
            <a:ext cx="4791075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 spc="150">
                <a:solidFill>
                  <a:srgbClr val="1647D8"/>
                </a:solidFill>
                <a:latin typeface="Inter"/>
                <a:ea typeface="Inter"/>
              </a:rPr>
              <a:t>THE EMPLOYEE LAUNCHES</a:t>
            </a:r>
            <a:endParaRPr lang="en-US"/>
          </a:p>
        </p:txBody>
      </p:sp>
      <p:sp>
        <p:nvSpPr>
          <p:cNvPr id="754" name="Shape 754"/>
          <p:cNvSpPr/>
          <p:nvPr/>
        </p:nvSpPr>
        <p:spPr>
          <a:xfrm>
            <a:off x="6524625" y="3484066"/>
            <a:ext cx="4791075" cy="822722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40"/>
              </a:lnSpc>
              <a:buNone/>
            </a:pPr>
            <a:r>
              <a:rPr sz="2400" b="0" i="0">
                <a:solidFill>
                  <a:srgbClr val="182230"/>
                </a:solidFill>
                <a:latin typeface="Inter"/>
                <a:ea typeface="Inter"/>
              </a:rPr>
              <a:t>A work environment</a:t>
            </a:r>
            <a:r>
              <a:rPr sz="2400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2400" b="0" i="0">
                <a:solidFill>
                  <a:srgbClr val="182230"/>
                </a:solidFill>
                <a:latin typeface="Inter"/>
                <a:ea typeface="Inter"/>
              </a:rPr>
              <a:t>that is ready to use.</a:t>
            </a:r>
            <a:endParaRPr lang="en-US"/>
          </a:p>
        </p:txBody>
      </p:sp>
      <p:sp>
        <p:nvSpPr>
          <p:cNvPr id="755" name="Shape 755"/>
          <p:cNvSpPr/>
          <p:nvPr/>
        </p:nvSpPr>
        <p:spPr>
          <a:xfrm>
            <a:off x="609600" y="6419850"/>
            <a:ext cx="1993255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Inter"/>
                <a:ea typeface="Inter"/>
              </a:rPr>
              <a:t>WORKPLANE / PRODUCT CONCEPT</a:t>
            </a:r>
            <a:endParaRPr lang="en-US"/>
          </a:p>
        </p:txBody>
      </p:sp>
      <p:sp>
        <p:nvSpPr>
          <p:cNvPr id="756" name="Shape 756"/>
          <p:cNvSpPr/>
          <p:nvPr/>
        </p:nvSpPr>
        <p:spPr>
          <a:xfrm>
            <a:off x="11213902" y="6419850"/>
            <a:ext cx="387548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Sora"/>
                <a:ea typeface="Sora"/>
              </a:rPr>
              <a:t>04 / 12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Shape 757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182230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758" name="Shape 758"/>
          <p:cNvSpPr/>
          <p:nvPr/>
        </p:nvSpPr>
        <p:spPr>
          <a:xfrm>
            <a:off x="9455944" y="381000"/>
            <a:ext cx="2145506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1647D8"/>
                </a:solidFill>
                <a:latin typeface="Inter"/>
                <a:ea typeface="Inter"/>
              </a:rPr>
              <a:t>THE FLAGSHIP EXPERIENCE</a:t>
            </a:r>
            <a:endParaRPr lang="en-US"/>
          </a:p>
        </p:txBody>
      </p:sp>
      <p:sp>
        <p:nvSpPr>
          <p:cNvPr id="759" name="Shape 759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A ready-to-work AI environment.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In one launch.</a:t>
            </a:r>
            <a:endParaRPr lang="en-US"/>
          </a:p>
        </p:txBody>
      </p:sp>
      <p:sp>
        <p:nvSpPr>
          <p:cNvPr id="760" name="Shape 760"/>
          <p:cNvSpPr/>
          <p:nvPr/>
        </p:nvSpPr>
        <p:spPr>
          <a:xfrm>
            <a:off x="609600" y="2703016"/>
            <a:ext cx="7048500" cy="2257425"/>
          </a:xfrm>
          <a:prstGeom prst="rect">
            <a:avLst/>
          </a:prstGeom>
          <a:solidFill>
            <a:srgbClr val="FFFFFF"/>
          </a:solidFill>
          <a:ln w="9525">
            <a:solidFill>
              <a:srgbClr val="9EBBF7"/>
            </a:solidFill>
          </a:ln>
        </p:spPr>
        <p:txBody>
          <a:bodyPr/>
          <a:lstStyle/>
          <a:p/>
        </p:txBody>
      </p:sp>
      <p:sp>
        <p:nvSpPr>
          <p:cNvPr id="761" name="Shape 761"/>
          <p:cNvSpPr/>
          <p:nvPr/>
        </p:nvSpPr>
        <p:spPr>
          <a:xfrm>
            <a:off x="619125" y="2712541"/>
            <a:ext cx="7029450" cy="657225"/>
          </a:xfrm>
          <a:prstGeom prst="rect">
            <a:avLst/>
          </a:prstGeom>
          <a:solidFill>
            <a:srgbClr val="1647D8"/>
          </a:solidFill>
        </p:spPr>
        <p:txBody>
          <a:bodyPr/>
          <a:lstStyle/>
          <a:p/>
        </p:txBody>
      </p:sp>
      <p:sp>
        <p:nvSpPr>
          <p:cNvPr id="762" name="Shape 762"/>
          <p:cNvSpPr/>
          <p:nvPr/>
        </p:nvSpPr>
        <p:spPr>
          <a:xfrm>
            <a:off x="857250" y="2883991"/>
            <a:ext cx="6572250" cy="3143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475"/>
              </a:lnSpc>
              <a:buNone/>
            </a:pPr>
            <a:r>
              <a:rPr sz="1650" b="0" i="0">
                <a:solidFill>
                  <a:srgbClr val="FFFFFF"/>
                </a:solidFill>
                <a:latin typeface="Inter"/>
                <a:ea typeface="Inter"/>
              </a:rPr>
              <a:t>Approved work profile</a:t>
            </a:r>
            <a:endParaRPr lang="en-US"/>
          </a:p>
        </p:txBody>
      </p:sp>
      <p:pic>
        <p:nvPicPr>
          <p:cNvPr id="250" name="Presenton Native Image 7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19125" y="3369766"/>
            <a:ext cx="3514725" cy="790575"/>
          </a:xfrm>
          <a:prstGeom prst="rect">
            <a:avLst/>
          </a:prstGeom>
        </p:spPr>
      </p:pic>
      <p:sp>
        <p:nvSpPr>
          <p:cNvPr id="763" name="Shape 763"/>
          <p:cNvSpPr/>
          <p:nvPr/>
        </p:nvSpPr>
        <p:spPr>
          <a:xfrm>
            <a:off x="619125" y="3369766"/>
            <a:ext cx="3533775" cy="790575"/>
          </a:xfrm>
          <a:prstGeom prst="rect">
            <a:avLst/>
          </a:prstGeom>
          <a:noFill/>
        </p:spPr>
        <p:txBody>
          <a:bodyPr anchor="t" wrap="square" tIns="219075" bIns="219075" lIns="238125" rIns="238125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344054"/>
                </a:solidFill>
                <a:latin typeface="Inter"/>
                <a:ea typeface="Inter"/>
              </a:rPr>
              <a:t>Workspace</a:t>
            </a:r>
            <a:endParaRPr lang="en-US"/>
          </a:p>
        </p:txBody>
      </p:sp>
      <p:pic>
        <p:nvPicPr>
          <p:cNvPr id="251" name="Presenton Native Image 8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4133850" y="3369766"/>
            <a:ext cx="3514725" cy="790575"/>
          </a:xfrm>
          <a:prstGeom prst="rect">
            <a:avLst/>
          </a:prstGeom>
        </p:spPr>
      </p:pic>
      <p:sp>
        <p:nvSpPr>
          <p:cNvPr id="764" name="Shape 764"/>
          <p:cNvSpPr/>
          <p:nvPr/>
        </p:nvSpPr>
        <p:spPr>
          <a:xfrm>
            <a:off x="4133850" y="3369766"/>
            <a:ext cx="3533775" cy="790575"/>
          </a:xfrm>
          <a:prstGeom prst="rect">
            <a:avLst/>
          </a:prstGeom>
          <a:noFill/>
        </p:spPr>
        <p:txBody>
          <a:bodyPr anchor="t" wrap="square" tIns="219075" bIns="219075" lIns="238125" rIns="238125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344054"/>
                </a:solidFill>
                <a:latin typeface="Inter"/>
                <a:ea typeface="Inter"/>
              </a:rPr>
              <a:t>Models</a:t>
            </a:r>
            <a:endParaRPr lang="en-US"/>
          </a:p>
        </p:txBody>
      </p:sp>
      <p:pic>
        <p:nvPicPr>
          <p:cNvPr id="252" name="Presenton Native Image 9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19125" y="4160341"/>
            <a:ext cx="3514725" cy="790575"/>
          </a:xfrm>
          <a:prstGeom prst="rect">
            <a:avLst/>
          </a:prstGeom>
        </p:spPr>
      </p:pic>
      <p:sp>
        <p:nvSpPr>
          <p:cNvPr id="765" name="Shape 765"/>
          <p:cNvSpPr/>
          <p:nvPr/>
        </p:nvSpPr>
        <p:spPr>
          <a:xfrm>
            <a:off x="619125" y="4160341"/>
            <a:ext cx="3533775" cy="790575"/>
          </a:xfrm>
          <a:prstGeom prst="rect">
            <a:avLst/>
          </a:prstGeom>
          <a:noFill/>
        </p:spPr>
        <p:txBody>
          <a:bodyPr anchor="t" wrap="square" tIns="219075" bIns="219075" lIns="238125" rIns="238125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344054"/>
                </a:solidFill>
                <a:latin typeface="Inter"/>
                <a:ea typeface="Inter"/>
              </a:rPr>
              <a:t xml:space="preserve">Context </a:t>
            </a:r>
            <a:r>
              <a:rPr sz="1800" b="0" i="0">
                <a:solidFill>
                  <a:srgbClr val="344054"/>
                </a:solidFill>
                <a:latin typeface="Inter"/>
                <a:ea typeface="Inter"/>
              </a:rPr>
              <a:t>&amp;</a:t>
            </a:r>
            <a:r>
              <a:rPr sz="1800" b="0" i="0">
                <a:solidFill>
                  <a:srgbClr val="344054"/>
                </a:solidFill>
                <a:latin typeface="Inter"/>
                <a:ea typeface="Inter"/>
              </a:rPr>
              <a:t xml:space="preserve"> skills</a:t>
            </a:r>
            <a:endParaRPr lang="en-US"/>
          </a:p>
        </p:txBody>
      </p:sp>
      <p:pic>
        <p:nvPicPr>
          <p:cNvPr id="253" name="Presenton Native Image 10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4133850" y="4160341"/>
            <a:ext cx="3514725" cy="790575"/>
          </a:xfrm>
          <a:prstGeom prst="rect">
            <a:avLst/>
          </a:prstGeom>
        </p:spPr>
      </p:pic>
      <p:sp>
        <p:nvSpPr>
          <p:cNvPr id="766" name="Shape 766"/>
          <p:cNvSpPr/>
          <p:nvPr/>
        </p:nvSpPr>
        <p:spPr>
          <a:xfrm>
            <a:off x="4133850" y="4160341"/>
            <a:ext cx="3533775" cy="790575"/>
          </a:xfrm>
          <a:prstGeom prst="rect">
            <a:avLst/>
          </a:prstGeom>
          <a:noFill/>
        </p:spPr>
        <p:txBody>
          <a:bodyPr anchor="t" wrap="square" tIns="219075" bIns="219075" lIns="238125" rIns="238125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344054"/>
                </a:solidFill>
                <a:latin typeface="Inter"/>
                <a:ea typeface="Inter"/>
              </a:rPr>
              <a:t xml:space="preserve">Tools </a:t>
            </a:r>
            <a:r>
              <a:rPr sz="1800" b="0" i="0">
                <a:solidFill>
                  <a:srgbClr val="344054"/>
                </a:solidFill>
                <a:latin typeface="Inter"/>
                <a:ea typeface="Inter"/>
              </a:rPr>
              <a:t>&amp;</a:t>
            </a:r>
            <a:r>
              <a:rPr sz="1800" b="0" i="0">
                <a:solidFill>
                  <a:srgbClr val="344054"/>
                </a:solidFill>
                <a:latin typeface="Inter"/>
                <a:ea typeface="Inter"/>
              </a:rPr>
              <a:t xml:space="preserve"> permissions</a:t>
            </a:r>
            <a:endParaRPr lang="en-US"/>
          </a:p>
        </p:txBody>
      </p:sp>
      <p:sp>
        <p:nvSpPr>
          <p:cNvPr id="767" name="Shape 767"/>
          <p:cNvSpPr/>
          <p:nvPr/>
        </p:nvSpPr>
        <p:spPr>
          <a:xfrm>
            <a:off x="7991475" y="2845891"/>
            <a:ext cx="3609975" cy="111978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940"/>
              </a:lnSpc>
              <a:buNone/>
            </a:pP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>Publish once.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>Assign by role.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>Update centrally.</a:t>
            </a:r>
            <a:endParaRPr lang="en-US"/>
          </a:p>
        </p:txBody>
      </p:sp>
      <p:sp>
        <p:nvSpPr>
          <p:cNvPr id="768" name="Shape 768"/>
          <p:cNvSpPr/>
          <p:nvPr/>
        </p:nvSpPr>
        <p:spPr>
          <a:xfrm>
            <a:off x="7991475" y="4194274"/>
            <a:ext cx="3609975" cy="5598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205"/>
              </a:lnSpc>
              <a:buNone/>
            </a:pPr>
            <a:r>
              <a:rPr sz="1575" b="0" i="0">
                <a:solidFill>
                  <a:srgbClr val="667085"/>
                </a:solidFill>
                <a:latin typeface="Inter"/>
                <a:ea typeface="Inter"/>
              </a:rPr>
              <a:t>Less setup for employees.</a:t>
            </a:r>
            <a:r>
              <a:rPr sz="1575" b="0" i="0">
                <a:solidFill>
                  <a:srgbClr val="667085"/>
                </a:solidFill>
                <a:latin typeface="Inter"/>
                <a:ea typeface="Inter"/>
              </a:rPr>
              <a:t xml:space="preserve">
</a:t>
            </a:r>
            <a:r>
              <a:rPr sz="1575" b="0" i="0">
                <a:solidFill>
                  <a:srgbClr val="667085"/>
                </a:solidFill>
                <a:latin typeface="Inter"/>
                <a:ea typeface="Inter"/>
              </a:rPr>
              <a:t>Less integration work for IT.</a:t>
            </a:r>
            <a:endParaRPr lang="en-US"/>
          </a:p>
        </p:txBody>
      </p:sp>
      <p:sp>
        <p:nvSpPr>
          <p:cNvPr id="769" name="Shape 769"/>
          <p:cNvSpPr/>
          <p:nvPr/>
        </p:nvSpPr>
        <p:spPr>
          <a:xfrm>
            <a:off x="609600" y="6419850"/>
            <a:ext cx="1993255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Inter"/>
                <a:ea typeface="Inter"/>
              </a:rPr>
              <a:t>WORKPLANE / PRODUCT CONCEPT</a:t>
            </a:r>
            <a:endParaRPr lang="en-US"/>
          </a:p>
        </p:txBody>
      </p:sp>
      <p:sp>
        <p:nvSpPr>
          <p:cNvPr id="770" name="Shape 770"/>
          <p:cNvSpPr/>
          <p:nvPr/>
        </p:nvSpPr>
        <p:spPr>
          <a:xfrm>
            <a:off x="11216134" y="6419850"/>
            <a:ext cx="385316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Sora"/>
                <a:ea typeface="Sora"/>
              </a:rPr>
              <a:t>05 / 12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Shape 771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FFFFFF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772" name="Shape 772"/>
          <p:cNvSpPr/>
          <p:nvPr/>
        </p:nvSpPr>
        <p:spPr>
          <a:xfrm>
            <a:off x="10059739" y="381000"/>
            <a:ext cx="1541711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DCE8FF"/>
                </a:solidFill>
                <a:latin typeface="Inter"/>
                <a:ea typeface="Inter"/>
              </a:rPr>
              <a:t>PROTECT THE DATA</a:t>
            </a:r>
            <a:endParaRPr lang="en-US"/>
          </a:p>
        </p:txBody>
      </p:sp>
      <p:sp>
        <p:nvSpPr>
          <p:cNvPr id="773" name="Shape 773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FFFFFF"/>
                </a:solidFill>
                <a:latin typeface="Sora"/>
                <a:ea typeface="Sora"/>
              </a:rPr>
              <a:t>Keep company data</a:t>
            </a:r>
            <a:r>
              <a:rPr sz="4050" b="1" i="0" spc="0">
                <a:solidFill>
                  <a:srgbClr val="FFFFFF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FFFFFF"/>
                </a:solidFill>
                <a:latin typeface="Sora"/>
                <a:ea typeface="Sora"/>
              </a:rPr>
              <a:t>on the approved path.</a:t>
            </a:r>
            <a:endParaRPr lang="en-US"/>
          </a:p>
        </p:txBody>
      </p:sp>
      <p:pic>
        <p:nvPicPr>
          <p:cNvPr id="254" name="Presenton Native Image 11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2798266"/>
            <a:ext cx="3517850" cy="1275159"/>
          </a:xfrm>
          <a:prstGeom prst="rect">
            <a:avLst/>
          </a:prstGeom>
        </p:spPr>
      </p:pic>
      <p:sp>
        <p:nvSpPr>
          <p:cNvPr id="774" name="Shape 774"/>
          <p:cNvSpPr/>
          <p:nvPr/>
        </p:nvSpPr>
        <p:spPr>
          <a:xfrm>
            <a:off x="609600" y="3017341"/>
            <a:ext cx="3536900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DCE8FF"/>
                </a:solidFill>
                <a:latin typeface="Inter"/>
                <a:ea typeface="Inter"/>
              </a:rPr>
              <a:t>01 / CONTEXT</a:t>
            </a:r>
            <a:endParaRPr lang="en-US"/>
          </a:p>
        </p:txBody>
      </p:sp>
      <p:sp>
        <p:nvSpPr>
          <p:cNvPr id="775" name="Shape 775"/>
          <p:cNvSpPr/>
          <p:nvPr/>
        </p:nvSpPr>
        <p:spPr>
          <a:xfrm>
            <a:off x="609600" y="3355479"/>
            <a:ext cx="3536900" cy="717947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828"/>
              </a:lnSpc>
              <a:buNone/>
            </a:pPr>
            <a:r>
              <a:rPr sz="2175" b="1" i="0">
                <a:solidFill>
                  <a:srgbClr val="FFFFFF"/>
                </a:solidFill>
                <a:latin typeface="Sora"/>
                <a:ea typeface="Sora"/>
              </a:rPr>
              <a:t>Know what is</a:t>
            </a:r>
            <a:r>
              <a:rPr sz="2175" b="1" i="0">
                <a:solidFill>
                  <a:srgbClr val="FFFFFF"/>
                </a:solidFill>
                <a:latin typeface="Sora"/>
                <a:ea typeface="Sora"/>
              </a:rPr>
              <a:t xml:space="preserve">
</a:t>
            </a:r>
            <a:r>
              <a:rPr sz="2175" b="1" i="0">
                <a:solidFill>
                  <a:srgbClr val="FFFFFF"/>
                </a:solidFill>
                <a:latin typeface="Sora"/>
                <a:ea typeface="Sora"/>
              </a:rPr>
              <a:t>being sent.</a:t>
            </a:r>
            <a:endParaRPr lang="en-US"/>
          </a:p>
        </p:txBody>
      </p:sp>
      <p:pic>
        <p:nvPicPr>
          <p:cNvPr id="255" name="Presenton Native Image 12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4337000" y="2798266"/>
            <a:ext cx="3517850" cy="1275159"/>
          </a:xfrm>
          <a:prstGeom prst="rect">
            <a:avLst/>
          </a:prstGeom>
        </p:spPr>
      </p:pic>
      <p:sp>
        <p:nvSpPr>
          <p:cNvPr id="776" name="Shape 776"/>
          <p:cNvSpPr/>
          <p:nvPr/>
        </p:nvSpPr>
        <p:spPr>
          <a:xfrm>
            <a:off x="4337000" y="3017341"/>
            <a:ext cx="3536900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DCE8FF"/>
                </a:solidFill>
                <a:latin typeface="Inter"/>
                <a:ea typeface="Inter"/>
              </a:rPr>
              <a:t>02 / CHECK</a:t>
            </a:r>
            <a:endParaRPr lang="en-US"/>
          </a:p>
        </p:txBody>
      </p:sp>
      <p:sp>
        <p:nvSpPr>
          <p:cNvPr id="777" name="Shape 777"/>
          <p:cNvSpPr/>
          <p:nvPr/>
        </p:nvSpPr>
        <p:spPr>
          <a:xfrm>
            <a:off x="4337000" y="3355479"/>
            <a:ext cx="3536900" cy="717947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828"/>
              </a:lnSpc>
              <a:buNone/>
            </a:pPr>
            <a:r>
              <a:rPr sz="2175" b="1" i="0">
                <a:solidFill>
                  <a:srgbClr val="FFFFFF"/>
                </a:solidFill>
                <a:latin typeface="Sora"/>
                <a:ea typeface="Sora"/>
              </a:rPr>
              <a:t>Inspect before</a:t>
            </a:r>
            <a:r>
              <a:rPr sz="2175" b="1" i="0">
                <a:solidFill>
                  <a:srgbClr val="FFFFFF"/>
                </a:solidFill>
                <a:latin typeface="Sora"/>
                <a:ea typeface="Sora"/>
              </a:rPr>
              <a:t xml:space="preserve">
</a:t>
            </a:r>
            <a:r>
              <a:rPr sz="2175" b="1" i="0">
                <a:solidFill>
                  <a:srgbClr val="FFFFFF"/>
                </a:solidFill>
                <a:latin typeface="Sora"/>
                <a:ea typeface="Sora"/>
              </a:rPr>
              <a:t>external dispatch.</a:t>
            </a:r>
            <a:endParaRPr lang="en-US"/>
          </a:p>
        </p:txBody>
      </p:sp>
      <p:pic>
        <p:nvPicPr>
          <p:cNvPr id="256" name="Presenton Native Image 13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8064401" y="2798266"/>
            <a:ext cx="3517999" cy="1275159"/>
          </a:xfrm>
          <a:prstGeom prst="rect">
            <a:avLst/>
          </a:prstGeom>
        </p:spPr>
      </p:pic>
      <p:sp>
        <p:nvSpPr>
          <p:cNvPr id="778" name="Shape 778"/>
          <p:cNvSpPr/>
          <p:nvPr/>
        </p:nvSpPr>
        <p:spPr>
          <a:xfrm>
            <a:off x="8064401" y="3017341"/>
            <a:ext cx="3537049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DCE8FF"/>
                </a:solidFill>
                <a:latin typeface="Inter"/>
                <a:ea typeface="Inter"/>
              </a:rPr>
              <a:t>03 / DESTINATION</a:t>
            </a:r>
            <a:endParaRPr lang="en-US"/>
          </a:p>
        </p:txBody>
      </p:sp>
      <p:sp>
        <p:nvSpPr>
          <p:cNvPr id="779" name="Shape 779"/>
          <p:cNvSpPr/>
          <p:nvPr/>
        </p:nvSpPr>
        <p:spPr>
          <a:xfrm>
            <a:off x="8064401" y="3355479"/>
            <a:ext cx="3537049" cy="717947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828"/>
              </a:lnSpc>
              <a:buNone/>
            </a:pPr>
            <a:r>
              <a:rPr sz="2175" b="1" i="0">
                <a:solidFill>
                  <a:srgbClr val="FFFFFF"/>
                </a:solidFill>
                <a:latin typeface="Sora"/>
                <a:ea typeface="Sora"/>
              </a:rPr>
              <a:t>Use only</a:t>
            </a:r>
            <a:r>
              <a:rPr sz="2175" b="1" i="0">
                <a:solidFill>
                  <a:srgbClr val="FFFFFF"/>
                </a:solidFill>
                <a:latin typeface="Sora"/>
                <a:ea typeface="Sora"/>
              </a:rPr>
              <a:t xml:space="preserve">
</a:t>
            </a:r>
            <a:r>
              <a:rPr sz="2175" b="1" i="0">
                <a:solidFill>
                  <a:srgbClr val="FFFFFF"/>
                </a:solidFill>
                <a:latin typeface="Sora"/>
                <a:ea typeface="Sora"/>
              </a:rPr>
              <a:t>approved services.</a:t>
            </a:r>
            <a:endParaRPr lang="en-US"/>
          </a:p>
        </p:txBody>
      </p:sp>
      <p:sp>
        <p:nvSpPr>
          <p:cNvPr id="780" name="Shape 780"/>
          <p:cNvSpPr/>
          <p:nvPr/>
        </p:nvSpPr>
        <p:spPr>
          <a:xfrm>
            <a:off x="609600" y="4502051"/>
            <a:ext cx="10991850" cy="33337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625"/>
              </a:lnSpc>
              <a:buNone/>
            </a:pPr>
            <a:r>
              <a:rPr sz="1875" b="0" i="0">
                <a:solidFill>
                  <a:srgbClr val="DCE8FF"/>
                </a:solidFill>
                <a:latin typeface="Inter"/>
                <a:ea typeface="Inter"/>
              </a:rPr>
              <a:t>Allow, redact, block or request review—under company policy.</a:t>
            </a:r>
            <a:endParaRPr lang="en-US"/>
          </a:p>
        </p:txBody>
      </p:sp>
      <p:sp>
        <p:nvSpPr>
          <p:cNvPr id="781" name="Shape 781"/>
          <p:cNvSpPr/>
          <p:nvPr/>
        </p:nvSpPr>
        <p:spPr>
          <a:xfrm>
            <a:off x="609600" y="6419850"/>
            <a:ext cx="4218533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DCE8FF"/>
                </a:solidFill>
                <a:latin typeface="Inter"/>
                <a:ea typeface="Inter"/>
              </a:rPr>
              <a:t>WORKPLANE / PRODUCT CONCEPT • Controls apply to supported workflows</a:t>
            </a:r>
            <a:endParaRPr lang="en-US"/>
          </a:p>
        </p:txBody>
      </p:sp>
      <p:sp>
        <p:nvSpPr>
          <p:cNvPr id="782" name="Shape 782"/>
          <p:cNvSpPr/>
          <p:nvPr/>
        </p:nvSpPr>
        <p:spPr>
          <a:xfrm>
            <a:off x="11211967" y="6419850"/>
            <a:ext cx="389483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DCE8FF"/>
                </a:solidFill>
                <a:latin typeface="Sora"/>
                <a:ea typeface="Sora"/>
              </a:rPr>
              <a:t>06 / 12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Shape 783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182230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784" name="Shape 784"/>
          <p:cNvSpPr/>
          <p:nvPr/>
        </p:nvSpPr>
        <p:spPr>
          <a:xfrm>
            <a:off x="9838283" y="381000"/>
            <a:ext cx="1763167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1647D8"/>
                </a:solidFill>
                <a:latin typeface="Inter"/>
                <a:ea typeface="Inter"/>
              </a:rPr>
              <a:t>CONTROL THE ACTION</a:t>
            </a:r>
            <a:endParaRPr lang="en-US"/>
          </a:p>
        </p:txBody>
      </p:sp>
      <p:sp>
        <p:nvSpPr>
          <p:cNvPr id="785" name="Shape 785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Give agents a job.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And clear limits.</a:t>
            </a:r>
            <a:endParaRPr lang="en-US"/>
          </a:p>
        </p:txBody>
      </p:sp>
      <p:sp>
        <p:nvSpPr>
          <p:cNvPr id="786" name="Shape 786"/>
          <p:cNvSpPr/>
          <p:nvPr/>
        </p:nvSpPr>
        <p:spPr>
          <a:xfrm>
            <a:off x="609600" y="2769691"/>
            <a:ext cx="5353050" cy="2223046"/>
          </a:xfrm>
          <a:prstGeom prst="rect">
            <a:avLst/>
          </a:prstGeom>
          <a:solidFill>
            <a:srgbClr val="FFFFFF"/>
          </a:solidFill>
          <a:ln w="9525">
            <a:solidFill>
              <a:srgbClr val="C4D5F8"/>
            </a:solidFill>
          </a:ln>
        </p:spPr>
        <p:txBody>
          <a:bodyPr/>
          <a:lstStyle/>
          <a:p/>
        </p:txBody>
      </p:sp>
      <p:sp>
        <p:nvSpPr>
          <p:cNvPr id="787" name="Shape 787"/>
          <p:cNvSpPr/>
          <p:nvPr/>
        </p:nvSpPr>
        <p:spPr>
          <a:xfrm>
            <a:off x="895350" y="3055441"/>
            <a:ext cx="4800600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 spc="150">
                <a:solidFill>
                  <a:srgbClr val="1647D8"/>
                </a:solidFill>
                <a:latin typeface="Inter"/>
                <a:ea typeface="Inter"/>
              </a:rPr>
              <a:t>LET WORK MOVE</a:t>
            </a:r>
            <a:endParaRPr lang="en-US"/>
          </a:p>
        </p:txBody>
      </p:sp>
      <p:sp>
        <p:nvSpPr>
          <p:cNvPr id="788" name="Shape 788"/>
          <p:cNvSpPr/>
          <p:nvPr/>
        </p:nvSpPr>
        <p:spPr>
          <a:xfrm>
            <a:off x="895350" y="3426916"/>
            <a:ext cx="4800600" cy="12800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>Read the right repository.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>Run the permitted tools.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>Propose a change.</a:t>
            </a:r>
            <a:endParaRPr lang="en-US"/>
          </a:p>
        </p:txBody>
      </p:sp>
      <p:sp>
        <p:nvSpPr>
          <p:cNvPr id="789" name="Shape 789"/>
          <p:cNvSpPr/>
          <p:nvPr/>
        </p:nvSpPr>
        <p:spPr>
          <a:xfrm>
            <a:off x="6229350" y="2769691"/>
            <a:ext cx="5353050" cy="2223046"/>
          </a:xfrm>
          <a:prstGeom prst="rect">
            <a:avLst/>
          </a:prstGeom>
          <a:solidFill>
            <a:srgbClr val="DCE8FF"/>
          </a:solidFill>
        </p:spPr>
        <p:txBody>
          <a:bodyPr/>
          <a:lstStyle/>
          <a:p/>
        </p:txBody>
      </p:sp>
      <p:sp>
        <p:nvSpPr>
          <p:cNvPr id="790" name="Shape 790"/>
          <p:cNvSpPr/>
          <p:nvPr/>
        </p:nvSpPr>
        <p:spPr>
          <a:xfrm>
            <a:off x="6505575" y="3045916"/>
            <a:ext cx="4819650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1" i="0" spc="150">
                <a:solidFill>
                  <a:srgbClr val="1647D8"/>
                </a:solidFill>
                <a:latin typeface="Inter"/>
                <a:ea typeface="Inter"/>
              </a:rPr>
              <a:t>KEEP AUTHORITY EXPLICIT</a:t>
            </a:r>
            <a:endParaRPr lang="en-US"/>
          </a:p>
        </p:txBody>
      </p:sp>
      <p:sp>
        <p:nvSpPr>
          <p:cNvPr id="791" name="Shape 791"/>
          <p:cNvSpPr/>
          <p:nvPr/>
        </p:nvSpPr>
        <p:spPr>
          <a:xfrm>
            <a:off x="6505575" y="3417391"/>
            <a:ext cx="4819650" cy="12778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54"/>
              </a:lnSpc>
              <a:buNone/>
            </a:pPr>
            <a:r>
              <a:rPr sz="1950" b="0" i="0">
                <a:solidFill>
                  <a:srgbClr val="182230"/>
                </a:solidFill>
                <a:latin typeface="Inter"/>
                <a:ea typeface="Inter"/>
              </a:rPr>
              <a:t>Scope access.</a:t>
            </a:r>
            <a:r>
              <a:rPr sz="1950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1950" b="0" i="0">
                <a:solidFill>
                  <a:srgbClr val="182230"/>
                </a:solidFill>
                <a:latin typeface="Inter"/>
                <a:ea typeface="Inter"/>
              </a:rPr>
              <a:t>Require sensitive-action approval.</a:t>
            </a:r>
            <a:r>
              <a:rPr sz="1950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1950" b="0" i="0">
                <a:solidFill>
                  <a:srgbClr val="182230"/>
                </a:solidFill>
                <a:latin typeface="Inter"/>
                <a:ea typeface="Inter"/>
              </a:rPr>
              <a:t>Stop or revoke a run.</a:t>
            </a:r>
            <a:endParaRPr lang="en-US"/>
          </a:p>
        </p:txBody>
      </p:sp>
      <p:sp>
        <p:nvSpPr>
          <p:cNvPr id="792" name="Shape 792"/>
          <p:cNvSpPr/>
          <p:nvPr/>
        </p:nvSpPr>
        <p:spPr>
          <a:xfrm>
            <a:off x="609600" y="6419850"/>
            <a:ext cx="1993255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Inter"/>
                <a:ea typeface="Inter"/>
              </a:rPr>
              <a:t>WORKPLANE / PRODUCT CONCEPT</a:t>
            </a:r>
            <a:endParaRPr lang="en-US"/>
          </a:p>
        </p:txBody>
      </p:sp>
      <p:sp>
        <p:nvSpPr>
          <p:cNvPr id="793" name="Shape 793"/>
          <p:cNvSpPr/>
          <p:nvPr/>
        </p:nvSpPr>
        <p:spPr>
          <a:xfrm>
            <a:off x="11221641" y="6419850"/>
            <a:ext cx="379809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Sora"/>
                <a:ea typeface="Sora"/>
              </a:rPr>
              <a:t>07 / 12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Shape 794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182230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795" name="Shape 795"/>
          <p:cNvSpPr/>
          <p:nvPr/>
        </p:nvSpPr>
        <p:spPr>
          <a:xfrm>
            <a:off x="9891415" y="381000"/>
            <a:ext cx="1710035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1647D8"/>
                </a:solidFill>
                <a:latin typeface="Inter"/>
                <a:ea typeface="Inter"/>
              </a:rPr>
              <a:t>FREEDOM TO CHOOSE</a:t>
            </a:r>
            <a:endParaRPr lang="en-US"/>
          </a:p>
        </p:txBody>
      </p:sp>
      <p:sp>
        <p:nvSpPr>
          <p:cNvPr id="796" name="Shape 796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Your models.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Your infrastructure. Your choice.</a:t>
            </a:r>
            <a:endParaRPr lang="en-US"/>
          </a:p>
        </p:txBody>
      </p:sp>
      <p:sp>
        <p:nvSpPr>
          <p:cNvPr id="797" name="Shape 797"/>
          <p:cNvSpPr/>
          <p:nvPr/>
        </p:nvSpPr>
        <p:spPr>
          <a:xfrm>
            <a:off x="609600" y="2788741"/>
            <a:ext cx="3517850" cy="1782961"/>
          </a:xfrm>
          <a:prstGeom prst="rect">
            <a:avLst/>
          </a:prstGeom>
          <a:solidFill>
            <a:srgbClr val="FFFFFF"/>
          </a:solidFill>
          <a:ln w="9525">
            <a:solidFill>
              <a:srgbClr val="C4D5F8"/>
            </a:solidFill>
          </a:ln>
        </p:spPr>
        <p:txBody>
          <a:bodyPr/>
          <a:lstStyle/>
          <a:p/>
        </p:txBody>
      </p:sp>
      <p:sp>
        <p:nvSpPr>
          <p:cNvPr id="798" name="Shape 798"/>
          <p:cNvSpPr/>
          <p:nvPr/>
        </p:nvSpPr>
        <p:spPr>
          <a:xfrm>
            <a:off x="885825" y="3064966"/>
            <a:ext cx="2984450" cy="4286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75"/>
              </a:lnSpc>
              <a:buNone/>
            </a:pPr>
            <a:r>
              <a:rPr sz="2250" b="1" i="0">
                <a:solidFill>
                  <a:srgbClr val="1647D8"/>
                </a:solidFill>
                <a:latin typeface="Sora"/>
                <a:ea typeface="Sora"/>
              </a:rPr>
              <a:t>Local</a:t>
            </a:r>
            <a:endParaRPr lang="en-US"/>
          </a:p>
        </p:txBody>
      </p:sp>
      <p:sp>
        <p:nvSpPr>
          <p:cNvPr id="799" name="Shape 799"/>
          <p:cNvSpPr/>
          <p:nvPr/>
        </p:nvSpPr>
        <p:spPr>
          <a:xfrm>
            <a:off x="885825" y="3655516"/>
            <a:ext cx="2984450" cy="63996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520"/>
              </a:lnSpc>
              <a:buNone/>
            </a:pP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Company-operated services.</a:t>
            </a:r>
            <a:endParaRPr lang="en-US"/>
          </a:p>
        </p:txBody>
      </p:sp>
      <p:sp>
        <p:nvSpPr>
          <p:cNvPr id="800" name="Shape 800"/>
          <p:cNvSpPr/>
          <p:nvPr/>
        </p:nvSpPr>
        <p:spPr>
          <a:xfrm>
            <a:off x="4337000" y="2788741"/>
            <a:ext cx="3517850" cy="1782961"/>
          </a:xfrm>
          <a:prstGeom prst="rect">
            <a:avLst/>
          </a:prstGeom>
          <a:solidFill>
            <a:srgbClr val="FFFFFF"/>
          </a:solidFill>
          <a:ln w="9525">
            <a:solidFill>
              <a:srgbClr val="C4D5F8"/>
            </a:solidFill>
          </a:ln>
        </p:spPr>
        <p:txBody>
          <a:bodyPr/>
          <a:lstStyle/>
          <a:p/>
        </p:txBody>
      </p:sp>
      <p:sp>
        <p:nvSpPr>
          <p:cNvPr id="801" name="Shape 801"/>
          <p:cNvSpPr/>
          <p:nvPr/>
        </p:nvSpPr>
        <p:spPr>
          <a:xfrm>
            <a:off x="4613225" y="3064966"/>
            <a:ext cx="2984450" cy="4286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75"/>
              </a:lnSpc>
              <a:buNone/>
            </a:pPr>
            <a:r>
              <a:rPr sz="2250" b="1" i="0">
                <a:solidFill>
                  <a:srgbClr val="1647D8"/>
                </a:solidFill>
                <a:latin typeface="Sora"/>
                <a:ea typeface="Sora"/>
              </a:rPr>
              <a:t>Cloud</a:t>
            </a:r>
            <a:endParaRPr lang="en-US"/>
          </a:p>
        </p:txBody>
      </p:sp>
      <p:sp>
        <p:nvSpPr>
          <p:cNvPr id="802" name="Shape 802"/>
          <p:cNvSpPr/>
          <p:nvPr/>
        </p:nvSpPr>
        <p:spPr>
          <a:xfrm>
            <a:off x="4613225" y="3655516"/>
            <a:ext cx="2984450" cy="63996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520"/>
              </a:lnSpc>
              <a:buNone/>
            </a:pP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Approved external providers.</a:t>
            </a:r>
            <a:endParaRPr lang="en-US"/>
          </a:p>
        </p:txBody>
      </p:sp>
      <p:sp>
        <p:nvSpPr>
          <p:cNvPr id="803" name="Shape 803"/>
          <p:cNvSpPr/>
          <p:nvPr/>
        </p:nvSpPr>
        <p:spPr>
          <a:xfrm>
            <a:off x="8064401" y="2788741"/>
            <a:ext cx="3517850" cy="1782961"/>
          </a:xfrm>
          <a:prstGeom prst="rect">
            <a:avLst/>
          </a:prstGeom>
          <a:solidFill>
            <a:srgbClr val="FFFFFF"/>
          </a:solidFill>
          <a:ln w="9525">
            <a:solidFill>
              <a:srgbClr val="C4D5F8"/>
            </a:solidFill>
          </a:ln>
        </p:spPr>
        <p:txBody>
          <a:bodyPr/>
          <a:lstStyle/>
          <a:p/>
        </p:txBody>
      </p:sp>
      <p:sp>
        <p:nvSpPr>
          <p:cNvPr id="804" name="Shape 804"/>
          <p:cNvSpPr/>
          <p:nvPr/>
        </p:nvSpPr>
        <p:spPr>
          <a:xfrm>
            <a:off x="8340626" y="3064966"/>
            <a:ext cx="2984450" cy="4286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75"/>
              </a:lnSpc>
              <a:buNone/>
            </a:pPr>
            <a:r>
              <a:rPr sz="2250" b="1" i="0">
                <a:solidFill>
                  <a:srgbClr val="1647D8"/>
                </a:solidFill>
                <a:latin typeface="Sora"/>
                <a:ea typeface="Sora"/>
              </a:rPr>
              <a:t>Hybrid</a:t>
            </a:r>
            <a:endParaRPr lang="en-US"/>
          </a:p>
        </p:txBody>
      </p:sp>
      <p:sp>
        <p:nvSpPr>
          <p:cNvPr id="805" name="Shape 805"/>
          <p:cNvSpPr/>
          <p:nvPr/>
        </p:nvSpPr>
        <p:spPr>
          <a:xfrm>
            <a:off x="8340626" y="3655516"/>
            <a:ext cx="2984450" cy="63996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520"/>
              </a:lnSpc>
              <a:buNone/>
            </a:pP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The right permitted path for the task.</a:t>
            </a:r>
            <a:endParaRPr lang="en-US"/>
          </a:p>
        </p:txBody>
      </p:sp>
      <p:sp>
        <p:nvSpPr>
          <p:cNvPr id="806" name="Shape 806"/>
          <p:cNvSpPr/>
          <p:nvPr/>
        </p:nvSpPr>
        <p:spPr>
          <a:xfrm>
            <a:off x="609600" y="4847927"/>
            <a:ext cx="10991850" cy="3571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813"/>
              </a:lnSpc>
              <a:buNone/>
            </a:pPr>
            <a:r>
              <a:rPr sz="1875" b="0" i="0">
                <a:solidFill>
                  <a:srgbClr val="182230"/>
                </a:solidFill>
                <a:latin typeface="Inter"/>
                <a:ea typeface="Inter"/>
              </a:rPr>
              <a:t>One company experience across qualified integrations.</a:t>
            </a:r>
            <a:endParaRPr lang="en-US"/>
          </a:p>
        </p:txBody>
      </p:sp>
      <p:sp>
        <p:nvSpPr>
          <p:cNvPr id="807" name="Shape 807"/>
          <p:cNvSpPr/>
          <p:nvPr/>
        </p:nvSpPr>
        <p:spPr>
          <a:xfrm>
            <a:off x="609600" y="6419850"/>
            <a:ext cx="1993255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Inter"/>
                <a:ea typeface="Inter"/>
              </a:rPr>
              <a:t>WORKPLANE / PRODUCT CONCEPT</a:t>
            </a:r>
            <a:endParaRPr lang="en-US"/>
          </a:p>
        </p:txBody>
      </p:sp>
      <p:sp>
        <p:nvSpPr>
          <p:cNvPr id="808" name="Shape 808"/>
          <p:cNvSpPr/>
          <p:nvPr/>
        </p:nvSpPr>
        <p:spPr>
          <a:xfrm>
            <a:off x="11214497" y="6419850"/>
            <a:ext cx="386953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Sora"/>
                <a:ea typeface="Sora"/>
              </a:rPr>
              <a:t>08 / 12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Shape 809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182230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810" name="Shape 810"/>
          <p:cNvSpPr/>
          <p:nvPr/>
        </p:nvSpPr>
        <p:spPr>
          <a:xfrm>
            <a:off x="10259913" y="381000"/>
            <a:ext cx="1341537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1647D8"/>
                </a:solidFill>
                <a:latin typeface="Inter"/>
                <a:ea typeface="Inter"/>
              </a:rPr>
              <a:t>BUSINESS VALUE</a:t>
            </a:r>
            <a:endParaRPr lang="en-US"/>
          </a:p>
        </p:txBody>
      </p:sp>
      <p:sp>
        <p:nvSpPr>
          <p:cNvPr id="811" name="Shape 811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Know what AI costs.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See what it delivers.</a:t>
            </a:r>
            <a:endParaRPr lang="en-US"/>
          </a:p>
        </p:txBody>
      </p:sp>
      <p:pic>
        <p:nvPicPr>
          <p:cNvPr id="257" name="Presenton Native Image 14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2798266"/>
            <a:ext cx="3467100" cy="1501080"/>
          </a:xfrm>
          <a:prstGeom prst="rect">
            <a:avLst/>
          </a:prstGeom>
        </p:spPr>
      </p:pic>
      <p:sp>
        <p:nvSpPr>
          <p:cNvPr id="812" name="Shape 812"/>
          <p:cNvSpPr/>
          <p:nvPr/>
        </p:nvSpPr>
        <p:spPr>
          <a:xfrm>
            <a:off x="609600" y="3045916"/>
            <a:ext cx="3486150" cy="4286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75"/>
              </a:lnSpc>
              <a:buNone/>
            </a:pPr>
            <a:r>
              <a:rPr sz="2250" b="1" i="0">
                <a:solidFill>
                  <a:srgbClr val="182230"/>
                </a:solidFill>
                <a:latin typeface="Sora"/>
                <a:ea typeface="Sora"/>
              </a:rPr>
              <a:t>Faster starts</a:t>
            </a:r>
            <a:endParaRPr lang="en-US"/>
          </a:p>
        </p:txBody>
      </p:sp>
      <p:sp>
        <p:nvSpPr>
          <p:cNvPr id="813" name="Shape 813"/>
          <p:cNvSpPr/>
          <p:nvPr/>
        </p:nvSpPr>
        <p:spPr>
          <a:xfrm>
            <a:off x="609600" y="3636466"/>
            <a:ext cx="3486150" cy="66288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610"/>
              </a:lnSpc>
              <a:buNone/>
            </a:pP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From approved access to useful work.</a:t>
            </a:r>
            <a:endParaRPr lang="en-US"/>
          </a:p>
        </p:txBody>
      </p:sp>
      <p:pic>
        <p:nvPicPr>
          <p:cNvPr id="258" name="Presenton Native Image 15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4362450" y="2798266"/>
            <a:ext cx="3467100" cy="1501080"/>
          </a:xfrm>
          <a:prstGeom prst="rect">
            <a:avLst/>
          </a:prstGeom>
        </p:spPr>
      </p:pic>
      <p:sp>
        <p:nvSpPr>
          <p:cNvPr id="814" name="Shape 814"/>
          <p:cNvSpPr/>
          <p:nvPr/>
        </p:nvSpPr>
        <p:spPr>
          <a:xfrm>
            <a:off x="4362450" y="3045916"/>
            <a:ext cx="3486150" cy="4286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75"/>
              </a:lnSpc>
              <a:buNone/>
            </a:pPr>
            <a:r>
              <a:rPr sz="2250" b="1" i="0">
                <a:solidFill>
                  <a:srgbClr val="182230"/>
                </a:solidFill>
                <a:latin typeface="Sora"/>
                <a:ea typeface="Sora"/>
              </a:rPr>
              <a:t>Accountable spend</a:t>
            </a:r>
            <a:endParaRPr lang="en-US"/>
          </a:p>
        </p:txBody>
      </p:sp>
      <p:sp>
        <p:nvSpPr>
          <p:cNvPr id="815" name="Shape 815"/>
          <p:cNvSpPr/>
          <p:nvPr/>
        </p:nvSpPr>
        <p:spPr>
          <a:xfrm>
            <a:off x="4362450" y="3636466"/>
            <a:ext cx="3486150" cy="33144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610"/>
              </a:lnSpc>
              <a:buNone/>
            </a:pP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Usage, owners and run limits.</a:t>
            </a:r>
            <a:endParaRPr lang="en-US"/>
          </a:p>
        </p:txBody>
      </p:sp>
      <p:pic>
        <p:nvPicPr>
          <p:cNvPr id="259" name="Presenton Native Image 16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8115300" y="2798266"/>
            <a:ext cx="3467100" cy="1501080"/>
          </a:xfrm>
          <a:prstGeom prst="rect">
            <a:avLst/>
          </a:prstGeom>
        </p:spPr>
      </p:pic>
      <p:sp>
        <p:nvSpPr>
          <p:cNvPr id="816" name="Shape 816"/>
          <p:cNvSpPr/>
          <p:nvPr/>
        </p:nvSpPr>
        <p:spPr>
          <a:xfrm>
            <a:off x="8115300" y="3045916"/>
            <a:ext cx="3486150" cy="4286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375"/>
              </a:lnSpc>
              <a:buNone/>
            </a:pPr>
            <a:r>
              <a:rPr sz="2250" b="1" i="0">
                <a:solidFill>
                  <a:srgbClr val="182230"/>
                </a:solidFill>
                <a:latin typeface="Sora"/>
                <a:ea typeface="Sora"/>
              </a:rPr>
              <a:t>Better decisions</a:t>
            </a:r>
            <a:endParaRPr lang="en-US"/>
          </a:p>
        </p:txBody>
      </p:sp>
      <p:sp>
        <p:nvSpPr>
          <p:cNvPr id="817" name="Shape 817"/>
          <p:cNvSpPr/>
          <p:nvPr/>
        </p:nvSpPr>
        <p:spPr>
          <a:xfrm>
            <a:off x="8115300" y="3636466"/>
            <a:ext cx="3486150" cy="66288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610"/>
              </a:lnSpc>
              <a:buNone/>
            </a:pP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Measure review, rework and verified outcomes.</a:t>
            </a:r>
            <a:endParaRPr lang="en-US"/>
          </a:p>
        </p:txBody>
      </p:sp>
      <p:sp>
        <p:nvSpPr>
          <p:cNvPr id="818" name="Shape 818"/>
          <p:cNvSpPr/>
          <p:nvPr/>
        </p:nvSpPr>
        <p:spPr>
          <a:xfrm>
            <a:off x="609600" y="6419850"/>
            <a:ext cx="1993255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Inter"/>
                <a:ea typeface="Inter"/>
              </a:rPr>
              <a:t>WORKPLANE / PRODUCT CONCEPT</a:t>
            </a:r>
            <a:endParaRPr lang="en-US"/>
          </a:p>
        </p:txBody>
      </p:sp>
      <p:sp>
        <p:nvSpPr>
          <p:cNvPr id="819" name="Shape 819"/>
          <p:cNvSpPr/>
          <p:nvPr/>
        </p:nvSpPr>
        <p:spPr>
          <a:xfrm>
            <a:off x="11211967" y="6419850"/>
            <a:ext cx="389483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Sora"/>
                <a:ea typeface="Sora"/>
              </a:rPr>
              <a:t>09 / 12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Shape 820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182230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821" name="Shape 821"/>
          <p:cNvSpPr/>
          <p:nvPr/>
        </p:nvSpPr>
        <p:spPr>
          <a:xfrm>
            <a:off x="10223153" y="381000"/>
            <a:ext cx="1378297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1647D8"/>
                </a:solidFill>
                <a:latin typeface="Inter"/>
                <a:ea typeface="Inter"/>
              </a:rPr>
              <a:t>BUSINESS MODEL</a:t>
            </a:r>
            <a:endParaRPr lang="en-US"/>
          </a:p>
        </p:txBody>
      </p:sp>
      <p:sp>
        <p:nvSpPr>
          <p:cNvPr id="822" name="Shape 822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A subscription to the platform.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Freedom to choose the services.</a:t>
            </a:r>
            <a:endParaRPr lang="en-US"/>
          </a:p>
        </p:txBody>
      </p:sp>
      <p:sp>
        <p:nvSpPr>
          <p:cNvPr id="823" name="Shape 823"/>
          <p:cNvSpPr/>
          <p:nvPr/>
        </p:nvSpPr>
        <p:spPr>
          <a:xfrm>
            <a:off x="609600" y="2798266"/>
            <a:ext cx="6572250" cy="1933575"/>
          </a:xfrm>
          <a:prstGeom prst="rect">
            <a:avLst/>
          </a:prstGeom>
          <a:solidFill>
            <a:srgbClr val="1647D8"/>
          </a:solidFill>
        </p:spPr>
        <p:txBody>
          <a:bodyPr/>
          <a:lstStyle/>
          <a:p/>
        </p:txBody>
      </p:sp>
      <p:sp>
        <p:nvSpPr>
          <p:cNvPr id="824" name="Shape 824"/>
          <p:cNvSpPr/>
          <p:nvPr/>
        </p:nvSpPr>
        <p:spPr>
          <a:xfrm>
            <a:off x="914400" y="3103066"/>
            <a:ext cx="5981700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 spc="150">
                <a:solidFill>
                  <a:srgbClr val="FFFFFF"/>
                </a:solidFill>
                <a:latin typeface="Inter"/>
                <a:ea typeface="Inter"/>
              </a:rPr>
              <a:t>PROPOSED REVENUE MODEL</a:t>
            </a:r>
            <a:endParaRPr lang="en-US"/>
          </a:p>
        </p:txBody>
      </p:sp>
      <p:sp>
        <p:nvSpPr>
          <p:cNvPr id="825" name="Shape 825"/>
          <p:cNvSpPr/>
          <p:nvPr/>
        </p:nvSpPr>
        <p:spPr>
          <a:xfrm>
            <a:off x="914400" y="3545979"/>
            <a:ext cx="5981700" cy="88106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469"/>
              </a:lnSpc>
              <a:buNone/>
            </a:pPr>
            <a:r>
              <a:rPr sz="2775" b="1" i="0">
                <a:solidFill>
                  <a:srgbClr val="FFFFFF"/>
                </a:solidFill>
                <a:latin typeface="Sora"/>
                <a:ea typeface="Sora"/>
              </a:rPr>
              <a:t>Annual platform subscription</a:t>
            </a:r>
            <a:r>
              <a:rPr sz="2775" b="1" i="0">
                <a:solidFill>
                  <a:srgbClr val="FFFFFF"/>
                </a:solidFill>
                <a:latin typeface="Sora"/>
                <a:ea typeface="Sora"/>
              </a:rPr>
              <a:t xml:space="preserve">
</a:t>
            </a:r>
            <a:r>
              <a:rPr sz="2775" b="1" i="0">
                <a:solidFill>
                  <a:srgbClr val="FFFFFF"/>
                </a:solidFill>
                <a:latin typeface="Sora"/>
                <a:ea typeface="Sora"/>
              </a:rPr>
              <a:t>+ active employee usage</a:t>
            </a:r>
            <a:endParaRPr lang="en-US"/>
          </a:p>
        </p:txBody>
      </p:sp>
      <p:sp>
        <p:nvSpPr>
          <p:cNvPr id="826" name="Shape 826"/>
          <p:cNvSpPr/>
          <p:nvPr/>
        </p:nvSpPr>
        <p:spPr>
          <a:xfrm>
            <a:off x="7467600" y="2969716"/>
            <a:ext cx="4133850" cy="12001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150"/>
              </a:lnSpc>
              <a:buNone/>
            </a:pP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>Customers bring their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>model providers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 xml:space="preserve">
</a:t>
            </a:r>
            <a:r>
              <a:rPr sz="2100" b="0" i="0">
                <a:solidFill>
                  <a:srgbClr val="182230"/>
                </a:solidFill>
                <a:latin typeface="Inter"/>
                <a:ea typeface="Inter"/>
              </a:rPr>
              <a:t>and infrastructure.</a:t>
            </a:r>
            <a:endParaRPr lang="en-US"/>
          </a:p>
        </p:txBody>
      </p:sp>
      <p:sp>
        <p:nvSpPr>
          <p:cNvPr id="827" name="Shape 827"/>
          <p:cNvSpPr/>
          <p:nvPr/>
        </p:nvSpPr>
        <p:spPr>
          <a:xfrm>
            <a:off x="609600" y="5008066"/>
            <a:ext cx="10991850" cy="3571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813"/>
              </a:lnSpc>
              <a:buNone/>
            </a:pPr>
            <a:r>
              <a:rPr sz="1875" b="0" i="0">
                <a:solidFill>
                  <a:srgbClr val="1647D8"/>
                </a:solidFill>
                <a:latin typeface="Inter"/>
                <a:ea typeface="Inter"/>
              </a:rPr>
              <a:t>Land with one workflow. Expand as the company rolls out AI.</a:t>
            </a:r>
            <a:endParaRPr lang="en-US"/>
          </a:p>
        </p:txBody>
      </p:sp>
      <p:sp>
        <p:nvSpPr>
          <p:cNvPr id="828" name="Shape 828"/>
          <p:cNvSpPr/>
          <p:nvPr/>
        </p:nvSpPr>
        <p:spPr>
          <a:xfrm>
            <a:off x="609600" y="6419850"/>
            <a:ext cx="1993255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Inter"/>
                <a:ea typeface="Inter"/>
              </a:rPr>
              <a:t>WORKPLANE / PRODUCT CONCEPT</a:t>
            </a:r>
            <a:endParaRPr lang="en-US"/>
          </a:p>
        </p:txBody>
      </p:sp>
      <p:sp>
        <p:nvSpPr>
          <p:cNvPr id="829" name="Shape 829"/>
          <p:cNvSpPr/>
          <p:nvPr/>
        </p:nvSpPr>
        <p:spPr>
          <a:xfrm>
            <a:off x="11239351" y="6419850"/>
            <a:ext cx="362099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Sora"/>
                <a:ea typeface="Sora"/>
              </a:rPr>
              <a:t>10 / 12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Shape 830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182230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831" name="Shape 831"/>
          <p:cNvSpPr/>
          <p:nvPr/>
        </p:nvSpPr>
        <p:spPr>
          <a:xfrm>
            <a:off x="9877871" y="381000"/>
            <a:ext cx="1723579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1647D8"/>
                </a:solidFill>
                <a:latin typeface="Inter"/>
                <a:ea typeface="Inter"/>
              </a:rPr>
              <a:t>THE NEXT MILESTONE</a:t>
            </a:r>
            <a:endParaRPr lang="en-US"/>
          </a:p>
        </p:txBody>
      </p:sp>
      <p:sp>
        <p:nvSpPr>
          <p:cNvPr id="832" name="Shape 832"/>
          <p:cNvSpPr/>
          <p:nvPr/>
        </p:nvSpPr>
        <p:spPr>
          <a:xfrm>
            <a:off x="609600" y="1257300"/>
            <a:ext cx="10991850" cy="113139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Prove one workflow.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 xml:space="preserve">
</a:t>
            </a:r>
            <a:r>
              <a:rPr sz="4050" b="1" i="0" spc="0">
                <a:solidFill>
                  <a:srgbClr val="182230"/>
                </a:solidFill>
                <a:latin typeface="Sora"/>
                <a:ea typeface="Sora"/>
              </a:rPr>
              <a:t>Then make rollout repeatable.</a:t>
            </a:r>
            <a:endParaRPr lang="en-US"/>
          </a:p>
        </p:txBody>
      </p:sp>
      <p:pic>
        <p:nvPicPr>
          <p:cNvPr id="260" name="Presenton Native Image 17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2798266"/>
            <a:ext cx="3467100" cy="1792486"/>
          </a:xfrm>
          <a:prstGeom prst="rect">
            <a:avLst/>
          </a:prstGeom>
        </p:spPr>
      </p:pic>
      <p:sp>
        <p:nvSpPr>
          <p:cNvPr id="833" name="Shape 833"/>
          <p:cNvSpPr/>
          <p:nvPr/>
        </p:nvSpPr>
        <p:spPr>
          <a:xfrm>
            <a:off x="609600" y="3045916"/>
            <a:ext cx="3486150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834" name="Shape 834"/>
          <p:cNvSpPr/>
          <p:nvPr/>
        </p:nvSpPr>
        <p:spPr>
          <a:xfrm>
            <a:off x="609600" y="3384054"/>
            <a:ext cx="348615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Sora"/>
                <a:ea typeface="Sora"/>
              </a:rPr>
              <a:t>Pilot</a:t>
            </a:r>
            <a:endParaRPr lang="en-US"/>
          </a:p>
        </p:txBody>
      </p:sp>
      <p:sp>
        <p:nvSpPr>
          <p:cNvPr id="835" name="Shape 835"/>
          <p:cNvSpPr/>
          <p:nvPr/>
        </p:nvSpPr>
        <p:spPr>
          <a:xfrm>
            <a:off x="609600" y="3950791"/>
            <a:ext cx="3486150" cy="63996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520"/>
              </a:lnSpc>
              <a:buNone/>
            </a:pP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One engineering group.</a:t>
            </a: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 xml:space="preserve">
</a:t>
            </a: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One useful workflow.</a:t>
            </a:r>
            <a:endParaRPr lang="en-US"/>
          </a:p>
        </p:txBody>
      </p:sp>
      <p:pic>
        <p:nvPicPr>
          <p:cNvPr id="261" name="Presenton Native Image 18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4362450" y="2798266"/>
            <a:ext cx="3467100" cy="1792486"/>
          </a:xfrm>
          <a:prstGeom prst="rect">
            <a:avLst/>
          </a:prstGeom>
        </p:spPr>
      </p:pic>
      <p:sp>
        <p:nvSpPr>
          <p:cNvPr id="836" name="Shape 836"/>
          <p:cNvSpPr/>
          <p:nvPr/>
        </p:nvSpPr>
        <p:spPr>
          <a:xfrm>
            <a:off x="4362450" y="3045916"/>
            <a:ext cx="3486150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837" name="Shape 837"/>
          <p:cNvSpPr/>
          <p:nvPr/>
        </p:nvSpPr>
        <p:spPr>
          <a:xfrm>
            <a:off x="4362450" y="3384054"/>
            <a:ext cx="348615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Sora"/>
                <a:ea typeface="Sora"/>
              </a:rPr>
              <a:t>Validate</a:t>
            </a:r>
            <a:endParaRPr lang="en-US"/>
          </a:p>
        </p:txBody>
      </p:sp>
      <p:sp>
        <p:nvSpPr>
          <p:cNvPr id="838" name="Shape 838"/>
          <p:cNvSpPr/>
          <p:nvPr/>
        </p:nvSpPr>
        <p:spPr>
          <a:xfrm>
            <a:off x="4362450" y="3950791"/>
            <a:ext cx="3486150" cy="63996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520"/>
              </a:lnSpc>
              <a:buNone/>
            </a:pP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Employee value.</a:t>
            </a: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 xml:space="preserve">
</a:t>
            </a: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Security and operating effort.</a:t>
            </a:r>
            <a:endParaRPr lang="en-US"/>
          </a:p>
        </p:txBody>
      </p:sp>
      <p:pic>
        <p:nvPicPr>
          <p:cNvPr id="262" name="Presenton Native Image 19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8115300" y="2798266"/>
            <a:ext cx="3467100" cy="1792486"/>
          </a:xfrm>
          <a:prstGeom prst="rect">
            <a:avLst/>
          </a:prstGeom>
        </p:spPr>
      </p:pic>
      <p:sp>
        <p:nvSpPr>
          <p:cNvPr id="839" name="Shape 839"/>
          <p:cNvSpPr/>
          <p:nvPr/>
        </p:nvSpPr>
        <p:spPr>
          <a:xfrm>
            <a:off x="8115300" y="3045916"/>
            <a:ext cx="3486150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840" name="Shape 840"/>
          <p:cNvSpPr/>
          <p:nvPr/>
        </p:nvSpPr>
        <p:spPr>
          <a:xfrm>
            <a:off x="8115300" y="3384054"/>
            <a:ext cx="348615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Sora"/>
                <a:ea typeface="Sora"/>
              </a:rPr>
              <a:t>Expand</a:t>
            </a:r>
            <a:endParaRPr lang="en-US"/>
          </a:p>
        </p:txBody>
      </p:sp>
      <p:sp>
        <p:nvSpPr>
          <p:cNvPr id="841" name="Shape 841"/>
          <p:cNvSpPr/>
          <p:nvPr/>
        </p:nvSpPr>
        <p:spPr>
          <a:xfrm>
            <a:off x="8115300" y="3950791"/>
            <a:ext cx="3486150" cy="63996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520"/>
              </a:lnSpc>
              <a:buNone/>
            </a:pP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More teams.</a:t>
            </a: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 xml:space="preserve">
</a:t>
            </a:r>
            <a:r>
              <a:rPr sz="1800" b="0" i="0">
                <a:solidFill>
                  <a:srgbClr val="667085"/>
                </a:solidFill>
                <a:latin typeface="Inter"/>
                <a:ea typeface="Inter"/>
              </a:rPr>
              <a:t>More qualified capabilities.</a:t>
            </a:r>
            <a:endParaRPr lang="en-US"/>
          </a:p>
        </p:txBody>
      </p:sp>
      <p:sp>
        <p:nvSpPr>
          <p:cNvPr id="842" name="Shape 842"/>
          <p:cNvSpPr/>
          <p:nvPr/>
        </p:nvSpPr>
        <p:spPr>
          <a:xfrm>
            <a:off x="609600" y="6419850"/>
            <a:ext cx="1993255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Inter"/>
                <a:ea typeface="Inter"/>
              </a:rPr>
              <a:t>WORKPLANE / PRODUCT CONCEPT</a:t>
            </a:r>
            <a:endParaRPr lang="en-US"/>
          </a:p>
        </p:txBody>
      </p:sp>
      <p:sp>
        <p:nvSpPr>
          <p:cNvPr id="843" name="Shape 843"/>
          <p:cNvSpPr/>
          <p:nvPr/>
        </p:nvSpPr>
        <p:spPr>
          <a:xfrm>
            <a:off x="11276261" y="6419850"/>
            <a:ext cx="325189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667085"/>
                </a:solidFill>
                <a:latin typeface="Sora"/>
                <a:ea typeface="Sora"/>
              </a:rPr>
              <a:t>11 / 12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Shape 844"/>
          <p:cNvSpPr/>
          <p:nvPr/>
        </p:nvSpPr>
        <p:spPr>
          <a:xfrm>
            <a:off x="609600" y="381000"/>
            <a:ext cx="1266825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1" i="0">
                <a:solidFill>
                  <a:srgbClr val="FFFFFF"/>
                </a:solidFill>
                <a:latin typeface="Sora"/>
                <a:ea typeface="Sora"/>
              </a:rPr>
              <a:t>workplane</a:t>
            </a:r>
            <a:endParaRPr lang="en-US"/>
          </a:p>
        </p:txBody>
      </p:sp>
      <p:sp>
        <p:nvSpPr>
          <p:cNvPr id="845" name="Shape 845"/>
          <p:cNvSpPr/>
          <p:nvPr/>
        </p:nvSpPr>
        <p:spPr>
          <a:xfrm>
            <a:off x="10448181" y="381000"/>
            <a:ext cx="1153269" cy="342900"/>
          </a:xfrm>
          <a:prstGeom prst="rect">
            <a:avLst/>
          </a:prstGeom>
          <a:noFill/>
        </p:spPr>
        <p:txBody>
          <a:bodyPr anchor="t" wrap="square" tIns="66675" bIns="0" lIns="0" rIns="0">
            <a:normAutofit/>
          </a:bodyPr>
          <a:lstStyle/>
          <a:p>
            <a:pPr algn="l">
              <a:lnSpc>
                <a:spcPts val="1463"/>
              </a:lnSpc>
              <a:buNone/>
            </a:pPr>
            <a:r>
              <a:rPr sz="975" b="1" i="0" spc="150">
                <a:solidFill>
                  <a:srgbClr val="DCE8FF"/>
                </a:solidFill>
                <a:latin typeface="Inter"/>
                <a:ea typeface="Inter"/>
              </a:rPr>
              <a:t>THE AMBITION</a:t>
            </a:r>
            <a:endParaRPr lang="en-US"/>
          </a:p>
        </p:txBody>
      </p:sp>
      <p:sp>
        <p:nvSpPr>
          <p:cNvPr id="846" name="Shape 846"/>
          <p:cNvSpPr/>
          <p:nvPr/>
        </p:nvSpPr>
        <p:spPr>
          <a:xfrm>
            <a:off x="609600" y="1257300"/>
            <a:ext cx="10991850" cy="565696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4455"/>
              </a:lnSpc>
              <a:buNone/>
            </a:pPr>
            <a:r>
              <a:rPr sz="4050" b="1" i="0" spc="0">
                <a:solidFill>
                  <a:srgbClr val="FFFFFF"/>
                </a:solidFill>
                <a:latin typeface="Sora"/>
                <a:ea typeface="Sora"/>
              </a:rPr>
              <a:t>Make AI a company capability.</a:t>
            </a:r>
            <a:endParaRPr lang="en-US"/>
          </a:p>
        </p:txBody>
      </p:sp>
      <p:sp>
        <p:nvSpPr>
          <p:cNvPr id="847" name="Shape 847"/>
          <p:cNvSpPr/>
          <p:nvPr/>
        </p:nvSpPr>
        <p:spPr>
          <a:xfrm>
            <a:off x="609600" y="2146846"/>
            <a:ext cx="10991850" cy="82867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250" b="0" i="0">
                <a:solidFill>
                  <a:srgbClr val="DCE8FF"/>
                </a:solidFill>
                <a:latin typeface="Inter"/>
                <a:ea typeface="Inter"/>
              </a:rPr>
              <a:t>The approved path from employee intent</a:t>
            </a:r>
            <a:r>
              <a:rPr sz="2250" b="0" i="0">
                <a:solidFill>
                  <a:srgbClr val="DCE8FF"/>
                </a:solidFill>
                <a:latin typeface="Inter"/>
                <a:ea typeface="Inter"/>
              </a:rPr>
              <a:t xml:space="preserve">
</a:t>
            </a:r>
            <a:r>
              <a:rPr sz="2250" b="0" i="0">
                <a:solidFill>
                  <a:srgbClr val="DCE8FF"/>
                </a:solidFill>
                <a:latin typeface="Inter"/>
                <a:ea typeface="Inter"/>
              </a:rPr>
              <a:t>to governed AI work.</a:t>
            </a:r>
            <a:endParaRPr lang="en-US"/>
          </a:p>
        </p:txBody>
      </p:sp>
      <p:pic>
        <p:nvPicPr>
          <p:cNvPr id="263" name="Presenton Native Image 20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609600" y="3432721"/>
            <a:ext cx="10972800" cy="923925"/>
          </a:xfrm>
          <a:prstGeom prst="rect">
            <a:avLst/>
          </a:prstGeom>
        </p:spPr>
      </p:pic>
      <p:sp>
        <p:nvSpPr>
          <p:cNvPr id="848" name="Shape 848"/>
          <p:cNvSpPr/>
          <p:nvPr/>
        </p:nvSpPr>
        <p:spPr>
          <a:xfrm>
            <a:off x="609600" y="3689896"/>
            <a:ext cx="10991850" cy="6667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625"/>
              </a:lnSpc>
              <a:buNone/>
            </a:pPr>
            <a:r>
              <a:rPr sz="1875" b="0" i="0">
                <a:solidFill>
                  <a:srgbClr val="FFFFFF"/>
                </a:solidFill>
                <a:latin typeface="Inter"/>
                <a:ea typeface="Inter"/>
              </a:rPr>
              <a:t>Seeking pre-seed partners to turn this vision</a:t>
            </a:r>
            <a:r>
              <a:rPr sz="1875" b="0" i="0">
                <a:solidFill>
                  <a:srgbClr val="FFFFFF"/>
                </a:solidFill>
                <a:latin typeface="Inter"/>
                <a:ea typeface="Inter"/>
              </a:rPr>
              <a:t xml:space="preserve">
</a:t>
            </a:r>
            <a:r>
              <a:rPr sz="1875" b="0" i="0">
                <a:solidFill>
                  <a:srgbClr val="FFFFFF"/>
                </a:solidFill>
                <a:latin typeface="Inter"/>
                <a:ea typeface="Inter"/>
              </a:rPr>
              <a:t>into a repeatable enterprise product.</a:t>
            </a:r>
            <a:endParaRPr lang="en-US"/>
          </a:p>
        </p:txBody>
      </p:sp>
      <p:sp>
        <p:nvSpPr>
          <p:cNvPr id="849" name="Shape 849"/>
          <p:cNvSpPr/>
          <p:nvPr/>
        </p:nvSpPr>
        <p:spPr>
          <a:xfrm>
            <a:off x="609600" y="6419850"/>
            <a:ext cx="1993255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DCE8FF"/>
                </a:solidFill>
                <a:latin typeface="Inter"/>
                <a:ea typeface="Inter"/>
              </a:rPr>
              <a:t>WORKPLANE / PRODUCT CONCEPT</a:t>
            </a:r>
            <a:endParaRPr lang="en-US"/>
          </a:p>
        </p:txBody>
      </p:sp>
      <p:sp>
        <p:nvSpPr>
          <p:cNvPr id="850" name="Shape 850"/>
          <p:cNvSpPr/>
          <p:nvPr/>
        </p:nvSpPr>
        <p:spPr>
          <a:xfrm>
            <a:off x="11253639" y="6419850"/>
            <a:ext cx="347811" cy="1714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350"/>
              </a:lnSpc>
              <a:buNone/>
            </a:pPr>
            <a:r>
              <a:rPr sz="900" b="0" i="0">
                <a:solidFill>
                  <a:srgbClr val="DCE8FF"/>
                </a:solidFill>
                <a:latin typeface="Sora"/>
                <a:ea typeface="Sora"/>
              </a:rPr>
              <a:t>12 / 12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:title>Workplane — AI moves fast. Your company stays in control.</dc:title>
  <dc:subject>Generated by Presenton export-core</dc:subject>
  <dc:creator>Presenton</dc:creator>
  <cp:lastModifiedBy>Presenton</cp:lastModifiedBy>
  <dcterms:created xsi:type="dcterms:W3CDTF">2026-10-21T17:21:30.513Z</dcterms:created>
  <dcterms:modified xsi:type="dcterms:W3CDTF">2026-10-21T17:21:30.513Z</dcterms:modified>
</cp:coreProperties>
</file>