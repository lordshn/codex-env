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png" Extension="png"/>
  <Default ContentType="image/jpeg" Extension="jpeg"/>
  <Default ContentType="image/jpeg" Extension="jpg"/>
  <Default ContentType="video/mp4" Extension="mp4"/>
  <Override ContentType="application/vnd.openxmlformats-officedocument.presentationml.presentation.main+xml" PartName="/ppt/presentation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theme+xml" PartName="/ppt/theme/them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tableStyles+xml" PartName="/ppt/tableStyle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 xmlns:a="http://schemas.openxmlformats.org/drawingml/2006/main">
    <a:defPPr>
      <a:defRPr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>
      <p:cViewPr varScale="1">
        <p:scale>
          <a:sx n="90" d="100"/>
          <a:sy n="90" d="100"/>
        </p:scale>
        <p:origin x="120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 sz="half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idx="11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hdr="0" ftr="0" sldNum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-228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2.png"/><Relationship Id="rId3" Type="http://schemas.openxmlformats.org/officeDocument/2006/relationships/image" Target="../media/Presenton_Native_Image_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5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2.png"/><Relationship Id="rId3" Type="http://schemas.openxmlformats.org/officeDocument/2006/relationships/image" Target="../media/Presenton_Native_Image_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2.png"/><Relationship Id="rId3" Type="http://schemas.openxmlformats.org/officeDocument/2006/relationships/image" Target="../media/Presenton_Native_Image_3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12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12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16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2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16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2.png"/><Relationship Id="rId3" Type="http://schemas.openxmlformats.org/officeDocument/2006/relationships/image" Target="../media/Presenton_Native_Image_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2.png"/><Relationship Id="rId3" Type="http://schemas.openxmlformats.org/officeDocument/2006/relationships/image" Target="../media/Presenton_Native_Image_3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35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3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39.png"/><Relationship Id="rId4" Type="http://schemas.openxmlformats.org/officeDocument/2006/relationships/image" Target="../media/Presenton_Native_Image_4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16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50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3.png"/><Relationship Id="rId3" Type="http://schemas.openxmlformats.org/officeDocument/2006/relationships/image" Target="../media/Presenton_Native_Image_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4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13"/>
          <p:cNvSpPr/>
          <p:nvPr/>
        </p:nvSpPr>
        <p:spPr>
          <a:xfrm>
            <a:off x="609600" y="400050"/>
            <a:ext cx="1285131" cy="3714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925"/>
              </a:lnSpc>
              <a:buNone/>
            </a:pPr>
            <a:r>
              <a:rPr sz="1950" b="1" i="0" spc="0">
                <a:solidFill>
                  <a:srgbClr val="FFFFFF"/>
                </a:solidFill>
                <a:latin typeface="Sora"/>
                <a:ea typeface="Sora"/>
              </a:rPr>
              <a:t>workplane</a:t>
            </a:r>
            <a:endParaRPr lang="en-US"/>
          </a:p>
        </p:txBody>
      </p:sp>
      <p:sp>
        <p:nvSpPr>
          <p:cNvPr id="514" name="Shape 514"/>
          <p:cNvSpPr/>
          <p:nvPr/>
        </p:nvSpPr>
        <p:spPr>
          <a:xfrm>
            <a:off x="9915079" y="400050"/>
            <a:ext cx="1686371" cy="371475"/>
          </a:xfrm>
          <a:prstGeom prst="rect">
            <a:avLst/>
          </a:prstGeom>
          <a:noFill/>
        </p:spPr>
        <p:txBody>
          <a:bodyPr anchor="t" wrap="square" tIns="7620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0" i="0" spc="150">
                <a:solidFill>
                  <a:srgbClr val="FFFFFF"/>
                </a:solidFill>
                <a:latin typeface="Inter"/>
                <a:ea typeface="Inter"/>
              </a:rPr>
              <a:t>CONCEPT / PRE-SEED</a:t>
            </a:r>
            <a:endParaRPr lang="en-US"/>
          </a:p>
        </p:txBody>
      </p:sp>
      <p:sp>
        <p:nvSpPr>
          <p:cNvPr id="515" name="Shape 515"/>
          <p:cNvSpPr/>
          <p:nvPr/>
        </p:nvSpPr>
        <p:spPr>
          <a:xfrm>
            <a:off x="609600" y="1400175"/>
            <a:ext cx="10210800" cy="2067669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5427"/>
              </a:lnSpc>
              <a:buNone/>
            </a:pPr>
            <a:r>
              <a:rPr sz="5025" b="1" i="0" spc="0">
                <a:solidFill>
                  <a:srgbClr val="FFFFFF"/>
                </a:solidFill>
                <a:latin typeface="Sora"/>
                <a:ea typeface="Sora"/>
              </a:rPr>
              <a:t>Give every employee</a:t>
            </a:r>
            <a:r>
              <a:rPr sz="5025" b="1" i="0" spc="0">
                <a:solidFill>
                  <a:srgbClr val="FFFFFF"/>
                </a:solidFill>
                <a:latin typeface="Sora"/>
                <a:ea typeface="Sora"/>
              </a:rPr>
              <a:t xml:space="preserve">
</a:t>
            </a:r>
            <a:r>
              <a:rPr sz="5025" b="1" i="0" spc="0">
                <a:solidFill>
                  <a:srgbClr val="FFFFFF"/>
                </a:solidFill>
                <a:latin typeface="Sora"/>
                <a:ea typeface="Sora"/>
              </a:rPr>
              <a:t>an approved way</a:t>
            </a:r>
            <a:r>
              <a:rPr sz="5025" b="1" i="0" spc="0">
                <a:solidFill>
                  <a:srgbClr val="FFFFFF"/>
                </a:solidFill>
                <a:latin typeface="Sora"/>
                <a:ea typeface="Sora"/>
              </a:rPr>
              <a:t xml:space="preserve">
</a:t>
            </a:r>
            <a:r>
              <a:rPr sz="5025" b="1" i="0" spc="0">
                <a:solidFill>
                  <a:srgbClr val="FFFFFF"/>
                </a:solidFill>
                <a:latin typeface="Sora"/>
                <a:ea typeface="Sora"/>
              </a:rPr>
              <a:t>to work with AI.</a:t>
            </a:r>
            <a:endParaRPr lang="en-US"/>
          </a:p>
        </p:txBody>
      </p:sp>
      <p:sp>
        <p:nvSpPr>
          <p:cNvPr id="516" name="Shape 516"/>
          <p:cNvSpPr/>
          <p:nvPr/>
        </p:nvSpPr>
        <p:spPr>
          <a:xfrm>
            <a:off x="609600" y="3734544"/>
            <a:ext cx="8305800" cy="666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25"/>
              </a:lnSpc>
              <a:buNone/>
            </a:pPr>
            <a:r>
              <a:rPr sz="1875" b="0" i="0">
                <a:solidFill>
                  <a:srgbClr val="DCE8FF"/>
                </a:solidFill>
                <a:latin typeface="Inter"/>
                <a:ea typeface="Inter"/>
              </a:rPr>
              <a:t>The company control application for AI coding</a:t>
            </a:r>
            <a:r>
              <a:rPr sz="1875" b="0" i="0">
                <a:solidFill>
                  <a:srgbClr val="DCE8FF"/>
                </a:solidFill>
                <a:latin typeface="Inter"/>
                <a:ea typeface="Inter"/>
              </a:rPr>
              <a:t xml:space="preserve">
</a:t>
            </a:r>
            <a:r>
              <a:rPr sz="1875" b="0" i="0">
                <a:solidFill>
                  <a:srgbClr val="DCE8FF"/>
                </a:solidFill>
                <a:latin typeface="Inter"/>
                <a:ea typeface="Inter"/>
              </a:rPr>
              <a:t>and agent workflows.</a:t>
            </a:r>
            <a:endParaRPr lang="en-US"/>
          </a:p>
        </p:txBody>
      </p:sp>
      <p:sp>
        <p:nvSpPr>
          <p:cNvPr id="517" name="Shape 517"/>
          <p:cNvSpPr/>
          <p:nvPr/>
        </p:nvSpPr>
        <p:spPr>
          <a:xfrm>
            <a:off x="609600" y="4725144"/>
            <a:ext cx="1623268" cy="452438"/>
          </a:xfrm>
          <a:prstGeom prst="rect">
            <a:avLst/>
          </a:prstGeom>
          <a:noFill/>
          <a:ln w="9525">
            <a:solidFill>
              <a:srgbClr val="8DB0FF"/>
            </a:solidFill>
          </a:ln>
        </p:spPr>
        <p:txBody>
          <a:bodyPr anchor="t" wrap="square" tIns="95250" bIns="95250" lIns="190500" rIns="19050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FFFFFF"/>
                </a:solidFill>
                <a:latin typeface="Inter"/>
                <a:ea typeface="Inter"/>
              </a:rPr>
              <a:t>ENVIRONMENT</a:t>
            </a:r>
            <a:endParaRPr lang="en-US"/>
          </a:p>
        </p:txBody>
      </p:sp>
      <p:sp>
        <p:nvSpPr>
          <p:cNvPr id="518" name="Shape 518"/>
          <p:cNvSpPr/>
          <p:nvPr/>
        </p:nvSpPr>
        <p:spPr>
          <a:xfrm>
            <a:off x="2366218" y="4725144"/>
            <a:ext cx="1573857" cy="452438"/>
          </a:xfrm>
          <a:prstGeom prst="rect">
            <a:avLst/>
          </a:prstGeom>
          <a:noFill/>
          <a:ln w="9525">
            <a:solidFill>
              <a:srgbClr val="8DB0FF"/>
            </a:solidFill>
          </a:ln>
        </p:spPr>
        <p:txBody>
          <a:bodyPr anchor="t" wrap="square" tIns="95250" bIns="95250" lIns="190500" rIns="19050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FFFFFF"/>
                </a:solidFill>
                <a:latin typeface="Inter"/>
                <a:ea typeface="Inter"/>
              </a:rPr>
              <a:t>INTELLIGENCE</a:t>
            </a:r>
            <a:endParaRPr lang="en-US"/>
          </a:p>
        </p:txBody>
      </p:sp>
      <p:sp>
        <p:nvSpPr>
          <p:cNvPr id="519" name="Shape 519"/>
          <p:cNvSpPr/>
          <p:nvPr/>
        </p:nvSpPr>
        <p:spPr>
          <a:xfrm>
            <a:off x="4073426" y="4725144"/>
            <a:ext cx="1210866" cy="452438"/>
          </a:xfrm>
          <a:prstGeom prst="rect">
            <a:avLst/>
          </a:prstGeom>
          <a:noFill/>
          <a:ln w="9525">
            <a:solidFill>
              <a:srgbClr val="8DB0FF"/>
            </a:solidFill>
          </a:ln>
        </p:spPr>
        <p:txBody>
          <a:bodyPr anchor="t" wrap="square" tIns="95250" bIns="95250" lIns="190500" rIns="19050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FFFFFF"/>
                </a:solidFill>
                <a:latin typeface="Inter"/>
                <a:ea typeface="Inter"/>
              </a:rPr>
              <a:t>CONTROL</a:t>
            </a:r>
            <a:endParaRPr lang="en-US"/>
          </a:p>
        </p:txBody>
      </p:sp>
      <p:pic>
        <p:nvPicPr>
          <p:cNvPr id="167" name="Presenton Native Image 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520" name="Shape 520"/>
          <p:cNvSpPr/>
          <p:nvPr/>
        </p:nvSpPr>
        <p:spPr>
          <a:xfrm>
            <a:off x="609600" y="6438900"/>
            <a:ext cx="284767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DCE8FF"/>
                </a:solidFill>
                <a:latin typeface="Inter"/>
                <a:ea typeface="Inter"/>
              </a:rPr>
              <a:t>Working name • Investor discussion • October 2026</a:t>
            </a:r>
            <a:endParaRPr lang="en-US"/>
          </a:p>
        </p:txBody>
      </p:sp>
      <p:sp>
        <p:nvSpPr>
          <p:cNvPr id="521" name="Shape 521"/>
          <p:cNvSpPr/>
          <p:nvPr/>
        </p:nvSpPr>
        <p:spPr>
          <a:xfrm>
            <a:off x="11233547" y="6438900"/>
            <a:ext cx="367903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DCE8FF"/>
                </a:solidFill>
                <a:latin typeface="Sora"/>
                <a:ea typeface="Sora"/>
              </a:rPr>
              <a:t>01 / 21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522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523" name="Shape 523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524" name="Shape 524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THE PROBLEM</a:t>
            </a:r>
            <a:endParaRPr lang="en-US"/>
          </a:p>
        </p:txBody>
      </p:sp>
      <p:sp>
        <p:nvSpPr>
          <p:cNvPr id="525" name="Shape 525"/>
          <p:cNvSpPr/>
          <p:nvPr/>
        </p:nvSpPr>
        <p:spPr>
          <a:xfrm>
            <a:off x="609600" y="1071563"/>
            <a:ext cx="10687050" cy="928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A license does not create</a:t>
            </a: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 xml:space="preserve">
</a:t>
            </a: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a governed workflow.</a:t>
            </a:r>
            <a:endParaRPr lang="en-US"/>
          </a:p>
        </p:txBody>
      </p:sp>
      <p:sp>
        <p:nvSpPr>
          <p:cNvPr id="526" name="Shape 526"/>
          <p:cNvSpPr/>
          <p:nvPr/>
        </p:nvSpPr>
        <p:spPr>
          <a:xfrm>
            <a:off x="609600" y="2304455"/>
            <a:ext cx="3530501" cy="2238970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27" name="Shape 527"/>
          <p:cNvSpPr/>
          <p:nvPr/>
        </p:nvSpPr>
        <p:spPr>
          <a:xfrm>
            <a:off x="866775" y="2561630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01 / DATA</a:t>
            </a:r>
            <a:endParaRPr lang="en-US"/>
          </a:p>
        </p:txBody>
      </p:sp>
      <p:sp>
        <p:nvSpPr>
          <p:cNvPr id="528" name="Shape 528"/>
          <p:cNvSpPr/>
          <p:nvPr/>
        </p:nvSpPr>
        <p:spPr>
          <a:xfrm>
            <a:off x="866775" y="2914055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What can leave?</a:t>
            </a:r>
            <a:endParaRPr lang="en-US"/>
          </a:p>
        </p:txBody>
      </p:sp>
      <p:sp>
        <p:nvSpPr>
          <p:cNvPr id="529" name="Shape 529"/>
          <p:cNvSpPr/>
          <p:nvPr/>
        </p:nvSpPr>
        <p:spPr>
          <a:xfrm>
            <a:off x="866775" y="3374975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Code, context and retained memory can reach different services.</a:t>
            </a:r>
            <a:endParaRPr lang="en-US"/>
          </a:p>
        </p:txBody>
      </p:sp>
      <p:sp>
        <p:nvSpPr>
          <p:cNvPr id="530" name="Shape 530"/>
          <p:cNvSpPr/>
          <p:nvPr/>
        </p:nvSpPr>
        <p:spPr>
          <a:xfrm>
            <a:off x="4330601" y="2304455"/>
            <a:ext cx="3530650" cy="2238970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31" name="Shape 531"/>
          <p:cNvSpPr/>
          <p:nvPr/>
        </p:nvSpPr>
        <p:spPr>
          <a:xfrm>
            <a:off x="4587776" y="2561630"/>
            <a:ext cx="30353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02 / AUTHORITY</a:t>
            </a:r>
            <a:endParaRPr lang="en-US"/>
          </a:p>
        </p:txBody>
      </p:sp>
      <p:sp>
        <p:nvSpPr>
          <p:cNvPr id="532" name="Shape 532"/>
          <p:cNvSpPr/>
          <p:nvPr/>
        </p:nvSpPr>
        <p:spPr>
          <a:xfrm>
            <a:off x="4587776" y="2914055"/>
            <a:ext cx="3035350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What can act?</a:t>
            </a:r>
            <a:endParaRPr lang="en-US"/>
          </a:p>
        </p:txBody>
      </p:sp>
      <p:sp>
        <p:nvSpPr>
          <p:cNvPr id="533" name="Shape 533"/>
          <p:cNvSpPr/>
          <p:nvPr/>
        </p:nvSpPr>
        <p:spPr>
          <a:xfrm>
            <a:off x="4587776" y="3374975"/>
            <a:ext cx="3035350" cy="6075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Tools, credentials and agents need explicit limits on actions.</a:t>
            </a:r>
            <a:endParaRPr lang="en-US"/>
          </a:p>
        </p:txBody>
      </p:sp>
      <p:sp>
        <p:nvSpPr>
          <p:cNvPr id="534" name="Shape 534"/>
          <p:cNvSpPr/>
          <p:nvPr/>
        </p:nvSpPr>
        <p:spPr>
          <a:xfrm>
            <a:off x="8051750" y="2304455"/>
            <a:ext cx="3530501" cy="2238970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35" name="Shape 535"/>
          <p:cNvSpPr/>
          <p:nvPr/>
        </p:nvSpPr>
        <p:spPr>
          <a:xfrm>
            <a:off x="8308925" y="2561630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03 / ECONOMICS</a:t>
            </a:r>
            <a:endParaRPr lang="en-US"/>
          </a:p>
        </p:txBody>
      </p:sp>
      <p:sp>
        <p:nvSpPr>
          <p:cNvPr id="536" name="Shape 536"/>
          <p:cNvSpPr/>
          <p:nvPr/>
        </p:nvSpPr>
        <p:spPr>
          <a:xfrm>
            <a:off x="8308925" y="2914055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Who owns the result?</a:t>
            </a:r>
            <a:endParaRPr lang="en-US"/>
          </a:p>
        </p:txBody>
      </p:sp>
      <p:sp>
        <p:nvSpPr>
          <p:cNvPr id="537" name="Shape 537"/>
          <p:cNvSpPr/>
          <p:nvPr/>
        </p:nvSpPr>
        <p:spPr>
          <a:xfrm>
            <a:off x="8308925" y="3374975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Spending, review effort and delivery outcomes need owners.</a:t>
            </a:r>
            <a:endParaRPr lang="en-US"/>
          </a:p>
        </p:txBody>
      </p:sp>
      <p:pic>
        <p:nvPicPr>
          <p:cNvPr id="168" name="Presenton Native Image 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4772025"/>
            <a:ext cx="10972800" cy="606623"/>
          </a:xfrm>
          <a:prstGeom prst="rect">
            <a:avLst/>
          </a:prstGeom>
        </p:spPr>
      </p:pic>
      <p:sp>
        <p:nvSpPr>
          <p:cNvPr id="538" name="Shape 538"/>
          <p:cNvSpPr/>
          <p:nvPr/>
        </p:nvSpPr>
        <p:spPr>
          <a:xfrm>
            <a:off x="609600" y="4772025"/>
            <a:ext cx="10991850" cy="606623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Company decisions become scattered across clients, gateways, workspaces and conventions.</a:t>
            </a:r>
            <a:endParaRPr lang="en-US"/>
          </a:p>
        </p:txBody>
      </p:sp>
      <p:pic>
        <p:nvPicPr>
          <p:cNvPr id="169" name="Presenton Native Image 3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539" name="Shape 539"/>
          <p:cNvSpPr/>
          <p:nvPr/>
        </p:nvSpPr>
        <p:spPr>
          <a:xfrm>
            <a:off x="609600" y="6438900"/>
            <a:ext cx="4549080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Problem hypothesis • Prevalence and willingness to pay require customer validation</a:t>
            </a:r>
            <a:endParaRPr lang="en-US"/>
          </a:p>
        </p:txBody>
      </p:sp>
      <p:sp>
        <p:nvSpPr>
          <p:cNvPr id="540" name="Shape 540"/>
          <p:cNvSpPr/>
          <p:nvPr/>
        </p:nvSpPr>
        <p:spPr>
          <a:xfrm>
            <a:off x="11210479" y="6438900"/>
            <a:ext cx="390971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02 / 21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Shape 541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542" name="Shape 542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543" name="Shape 543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WHY NOW</a:t>
            </a:r>
            <a:endParaRPr lang="en-US"/>
          </a:p>
        </p:txBody>
      </p:sp>
      <p:sp>
        <p:nvSpPr>
          <p:cNvPr id="544" name="Shape 544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Agents turn suggestions into actions.</a:t>
            </a:r>
            <a:endParaRPr lang="en-US"/>
          </a:p>
        </p:txBody>
      </p:sp>
      <p:sp>
        <p:nvSpPr>
          <p:cNvPr id="545" name="Shape 545"/>
          <p:cNvSpPr/>
          <p:nvPr/>
        </p:nvSpPr>
        <p:spPr>
          <a:xfrm>
            <a:off x="609600" y="1802309"/>
            <a:ext cx="10972800" cy="1004888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46" name="Shape 546"/>
          <p:cNvSpPr/>
          <p:nvPr/>
        </p:nvSpPr>
        <p:spPr>
          <a:xfrm>
            <a:off x="847725" y="1992809"/>
            <a:ext cx="2019300" cy="623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00"/>
              </a:lnSpc>
              <a:buNone/>
            </a:pPr>
            <a:r>
              <a:rPr sz="1800" b="1" i="0">
                <a:solidFill>
                  <a:srgbClr val="1647D8"/>
                </a:solidFill>
                <a:latin typeface="Sora"/>
                <a:ea typeface="Sora"/>
              </a:rPr>
              <a:t>Microsoft</a:t>
            </a:r>
            <a:endParaRPr lang="en-US"/>
          </a:p>
        </p:txBody>
      </p:sp>
      <p:sp>
        <p:nvSpPr>
          <p:cNvPr id="547" name="Shape 547"/>
          <p:cNvSpPr/>
          <p:nvPr/>
        </p:nvSpPr>
        <p:spPr>
          <a:xfrm>
            <a:off x="2847975" y="1992809"/>
            <a:ext cx="8515350" cy="3286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588"/>
              </a:lnSpc>
              <a:buNone/>
            </a:pPr>
            <a:r>
              <a:rPr sz="1725" b="1" i="0">
                <a:solidFill>
                  <a:srgbClr val="182230"/>
                </a:solidFill>
                <a:latin typeface="Inter"/>
                <a:ea typeface="Inter"/>
              </a:rPr>
              <a:t>Permission boundaries need engineering.</a:t>
            </a:r>
            <a:endParaRPr lang="en-US"/>
          </a:p>
        </p:txBody>
      </p:sp>
      <p:sp>
        <p:nvSpPr>
          <p:cNvPr id="548" name="Shape 548"/>
          <p:cNvSpPr/>
          <p:nvPr/>
        </p:nvSpPr>
        <p:spPr>
          <a:xfrm>
            <a:off x="2847975" y="2359521"/>
            <a:ext cx="8515350" cy="2571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025"/>
              </a:lnSpc>
              <a:buNone/>
            </a:pPr>
            <a:r>
              <a:rPr sz="1350" b="0" i="0">
                <a:solidFill>
                  <a:srgbClr val="667085"/>
                </a:solidFill>
                <a:latin typeface="Inter"/>
                <a:ea typeface="Inter"/>
              </a:rPr>
              <a:t>Disclosed and patched agent approval and MCP permission flaws. [R1–R2]</a:t>
            </a:r>
            <a:endParaRPr lang="en-US"/>
          </a:p>
        </p:txBody>
      </p:sp>
      <p:sp>
        <p:nvSpPr>
          <p:cNvPr id="549" name="Shape 549"/>
          <p:cNvSpPr/>
          <p:nvPr/>
        </p:nvSpPr>
        <p:spPr>
          <a:xfrm>
            <a:off x="609600" y="2950071"/>
            <a:ext cx="10972800" cy="1004888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50" name="Shape 550"/>
          <p:cNvSpPr/>
          <p:nvPr/>
        </p:nvSpPr>
        <p:spPr>
          <a:xfrm>
            <a:off x="847725" y="3140571"/>
            <a:ext cx="2019300" cy="623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00"/>
              </a:lnSpc>
              <a:buNone/>
            </a:pPr>
            <a:r>
              <a:rPr sz="1800" b="1" i="0">
                <a:solidFill>
                  <a:srgbClr val="1647D8"/>
                </a:solidFill>
                <a:latin typeface="Sora"/>
                <a:ea typeface="Sora"/>
              </a:rPr>
              <a:t>Google / DORA</a:t>
            </a:r>
            <a:endParaRPr lang="en-US"/>
          </a:p>
        </p:txBody>
      </p:sp>
      <p:sp>
        <p:nvSpPr>
          <p:cNvPr id="551" name="Shape 551"/>
          <p:cNvSpPr/>
          <p:nvPr/>
        </p:nvSpPr>
        <p:spPr>
          <a:xfrm>
            <a:off x="2847975" y="3140571"/>
            <a:ext cx="8515350" cy="3286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588"/>
              </a:lnSpc>
              <a:buNone/>
            </a:pPr>
            <a:r>
              <a:rPr sz="1725" b="1" i="0">
                <a:solidFill>
                  <a:srgbClr val="182230"/>
                </a:solidFill>
                <a:latin typeface="Inter"/>
                <a:ea typeface="Inter"/>
              </a:rPr>
              <a:t>Verification remains part of productivity.</a:t>
            </a:r>
            <a:endParaRPr lang="en-US"/>
          </a:p>
        </p:txBody>
      </p:sp>
      <p:sp>
        <p:nvSpPr>
          <p:cNvPr id="552" name="Shape 552"/>
          <p:cNvSpPr/>
          <p:nvPr/>
        </p:nvSpPr>
        <p:spPr>
          <a:xfrm>
            <a:off x="2847975" y="3507284"/>
            <a:ext cx="8515350" cy="2571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025"/>
              </a:lnSpc>
              <a:buNone/>
            </a:pPr>
            <a:r>
              <a:rPr sz="1350" b="0" i="0">
                <a:solidFill>
                  <a:srgbClr val="667085"/>
                </a:solidFill>
                <a:latin typeface="Inter"/>
                <a:ea typeface="Inter"/>
              </a:rPr>
              <a:t>Engineer responses describe checking, review and integration work. [R3]</a:t>
            </a:r>
            <a:endParaRPr lang="en-US"/>
          </a:p>
        </p:txBody>
      </p:sp>
      <p:sp>
        <p:nvSpPr>
          <p:cNvPr id="553" name="Shape 553"/>
          <p:cNvSpPr/>
          <p:nvPr/>
        </p:nvSpPr>
        <p:spPr>
          <a:xfrm>
            <a:off x="609600" y="4097834"/>
            <a:ext cx="10972800" cy="1004888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54" name="Shape 554"/>
          <p:cNvSpPr/>
          <p:nvPr/>
        </p:nvSpPr>
        <p:spPr>
          <a:xfrm>
            <a:off x="847725" y="4288334"/>
            <a:ext cx="2019300" cy="623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00"/>
              </a:lnSpc>
              <a:buNone/>
            </a:pPr>
            <a:r>
              <a:rPr sz="1800" b="1" i="0">
                <a:solidFill>
                  <a:srgbClr val="1647D8"/>
                </a:solidFill>
                <a:latin typeface="Sora"/>
                <a:ea typeface="Sora"/>
              </a:rPr>
              <a:t>Accenture</a:t>
            </a:r>
            <a:endParaRPr lang="en-US"/>
          </a:p>
        </p:txBody>
      </p:sp>
      <p:sp>
        <p:nvSpPr>
          <p:cNvPr id="555" name="Shape 555"/>
          <p:cNvSpPr/>
          <p:nvPr/>
        </p:nvSpPr>
        <p:spPr>
          <a:xfrm>
            <a:off x="2847975" y="4288334"/>
            <a:ext cx="8515350" cy="3286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588"/>
              </a:lnSpc>
              <a:buNone/>
            </a:pPr>
            <a:r>
              <a:rPr sz="1725" b="1" i="0">
                <a:solidFill>
                  <a:srgbClr val="182230"/>
                </a:solidFill>
                <a:latin typeface="Inter"/>
                <a:ea typeface="Inter"/>
              </a:rPr>
              <a:t>Scaled adoption is a managed program.</a:t>
            </a:r>
            <a:endParaRPr lang="en-US"/>
          </a:p>
        </p:txBody>
      </p:sp>
      <p:sp>
        <p:nvSpPr>
          <p:cNvPr id="556" name="Shape 556"/>
          <p:cNvSpPr/>
          <p:nvPr/>
        </p:nvSpPr>
        <p:spPr>
          <a:xfrm>
            <a:off x="2847975" y="4655046"/>
            <a:ext cx="8515350" cy="2571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025"/>
              </a:lnSpc>
              <a:buNone/>
            </a:pPr>
            <a:r>
              <a:rPr sz="1350" b="0" i="0">
                <a:solidFill>
                  <a:srgbClr val="667085"/>
                </a:solidFill>
                <a:latin typeface="Inter"/>
                <a:ea typeface="Inter"/>
              </a:rPr>
              <a:t>Pilot, controlled comparison and rollout on a managed platform. [R4]</a:t>
            </a:r>
            <a:endParaRPr lang="en-US"/>
          </a:p>
        </p:txBody>
      </p:sp>
      <p:pic>
        <p:nvPicPr>
          <p:cNvPr id="170" name="Presenton Native Image 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557" name="Shape 557"/>
          <p:cNvSpPr/>
          <p:nvPr/>
        </p:nvSpPr>
        <p:spPr>
          <a:xfrm>
            <a:off x="609600" y="6438900"/>
            <a:ext cx="555411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Sources: R1–R4, appendix • Disclosed flaws ≠ exploited incidents; evidence types and limitations differ</a:t>
            </a:r>
            <a:endParaRPr lang="en-US"/>
          </a:p>
        </p:txBody>
      </p:sp>
      <p:sp>
        <p:nvSpPr>
          <p:cNvPr id="558" name="Shape 558"/>
          <p:cNvSpPr/>
          <p:nvPr/>
        </p:nvSpPr>
        <p:spPr>
          <a:xfrm>
            <a:off x="11210627" y="6438900"/>
            <a:ext cx="390823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03 / 21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559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560" name="Shape 560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561" name="Shape 561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FIRST CUSTOMER</a:t>
            </a:r>
            <a:endParaRPr lang="en-US"/>
          </a:p>
        </p:txBody>
      </p:sp>
      <p:sp>
        <p:nvSpPr>
          <p:cNvPr id="562" name="Shape 562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Start with the platform team.</a:t>
            </a:r>
            <a:endParaRPr lang="en-US"/>
          </a:p>
        </p:txBody>
      </p:sp>
      <p:sp>
        <p:nvSpPr>
          <p:cNvPr id="563" name="Shape 563"/>
          <p:cNvSpPr/>
          <p:nvPr/>
        </p:nvSpPr>
        <p:spPr>
          <a:xfrm>
            <a:off x="609600" y="1840409"/>
            <a:ext cx="3530501" cy="2856012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64" name="Shape 564"/>
          <p:cNvSpPr/>
          <p:nvPr/>
        </p:nvSpPr>
        <p:spPr>
          <a:xfrm>
            <a:off x="86677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EMPLOYEE</a:t>
            </a:r>
            <a:endParaRPr lang="en-US"/>
          </a:p>
        </p:txBody>
      </p:sp>
      <p:sp>
        <p:nvSpPr>
          <p:cNvPr id="565" name="Shape 565"/>
          <p:cNvSpPr/>
          <p:nvPr/>
        </p:nvSpPr>
        <p:spPr>
          <a:xfrm>
            <a:off x="866775" y="2450009"/>
            <a:ext cx="3035201" cy="61704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Platform engineers</a:t>
            </a: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 xml:space="preserve">
</a:t>
            </a: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and developers</a:t>
            </a:r>
            <a:endParaRPr lang="en-US"/>
          </a:p>
        </p:txBody>
      </p:sp>
      <p:sp>
        <p:nvSpPr>
          <p:cNvPr id="566" name="Shape 566"/>
          <p:cNvSpPr/>
          <p:nvPr/>
        </p:nvSpPr>
        <p:spPr>
          <a:xfrm>
            <a:off x="866775" y="3219450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Using company-provided cloud development environments.</a:t>
            </a:r>
            <a:endParaRPr lang="en-US"/>
          </a:p>
        </p:txBody>
      </p:sp>
      <p:sp>
        <p:nvSpPr>
          <p:cNvPr id="567" name="Shape 567"/>
          <p:cNvSpPr/>
          <p:nvPr/>
        </p:nvSpPr>
        <p:spPr>
          <a:xfrm>
            <a:off x="4330601" y="1840409"/>
            <a:ext cx="3530650" cy="2856012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68" name="Shape 568"/>
          <p:cNvSpPr/>
          <p:nvPr/>
        </p:nvSpPr>
        <p:spPr>
          <a:xfrm>
            <a:off x="4587776" y="2097584"/>
            <a:ext cx="30353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CHAMPION</a:t>
            </a:r>
            <a:endParaRPr lang="en-US"/>
          </a:p>
        </p:txBody>
      </p:sp>
      <p:sp>
        <p:nvSpPr>
          <p:cNvPr id="569" name="Shape 569"/>
          <p:cNvSpPr/>
          <p:nvPr/>
        </p:nvSpPr>
        <p:spPr>
          <a:xfrm>
            <a:off x="4587776" y="2450009"/>
            <a:ext cx="3035350" cy="92556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Head of Platform</a:t>
            </a: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 xml:space="preserve">
</a:t>
            </a: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or Developer Experience</a:t>
            </a:r>
            <a:endParaRPr lang="en-US"/>
          </a:p>
        </p:txBody>
      </p:sp>
      <p:sp>
        <p:nvSpPr>
          <p:cNvPr id="570" name="Shape 570"/>
          <p:cNvSpPr/>
          <p:nvPr/>
        </p:nvSpPr>
        <p:spPr>
          <a:xfrm>
            <a:off x="4587776" y="3527971"/>
            <a:ext cx="3035350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Accountable for the supported path into employee AI work.</a:t>
            </a:r>
            <a:endParaRPr lang="en-US"/>
          </a:p>
        </p:txBody>
      </p:sp>
      <p:sp>
        <p:nvSpPr>
          <p:cNvPr id="571" name="Shape 571"/>
          <p:cNvSpPr/>
          <p:nvPr/>
        </p:nvSpPr>
        <p:spPr>
          <a:xfrm>
            <a:off x="8051750" y="1840409"/>
            <a:ext cx="3530501" cy="2856012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572" name="Shape 572"/>
          <p:cNvSpPr/>
          <p:nvPr/>
        </p:nvSpPr>
        <p:spPr>
          <a:xfrm>
            <a:off x="830892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BUYING GROUP</a:t>
            </a:r>
            <a:endParaRPr lang="en-US"/>
          </a:p>
        </p:txBody>
      </p:sp>
      <p:sp>
        <p:nvSpPr>
          <p:cNvPr id="573" name="Shape 573"/>
          <p:cNvSpPr/>
          <p:nvPr/>
        </p:nvSpPr>
        <p:spPr>
          <a:xfrm>
            <a:off x="8308925" y="2450009"/>
            <a:ext cx="3035201" cy="61704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Engineering</a:t>
            </a: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 xml:space="preserve">
</a:t>
            </a: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and security</a:t>
            </a:r>
            <a:endParaRPr lang="en-US"/>
          </a:p>
        </p:txBody>
      </p:sp>
      <p:sp>
        <p:nvSpPr>
          <p:cNvPr id="574" name="Shape 574"/>
          <p:cNvSpPr/>
          <p:nvPr/>
        </p:nvSpPr>
        <p:spPr>
          <a:xfrm>
            <a:off x="8308925" y="3219450"/>
            <a:ext cx="3035201" cy="6075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Jointly evaluate operating value, boundaries and budget.</a:t>
            </a:r>
            <a:endParaRPr lang="en-US"/>
          </a:p>
        </p:txBody>
      </p:sp>
      <p:pic>
        <p:nvPicPr>
          <p:cNvPr id="171" name="Presenton Native Image 5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4925020"/>
            <a:ext cx="10972800" cy="889397"/>
          </a:xfrm>
          <a:prstGeom prst="rect">
            <a:avLst/>
          </a:prstGeom>
        </p:spPr>
      </p:pic>
      <p:sp>
        <p:nvSpPr>
          <p:cNvPr id="575" name="Shape 575"/>
          <p:cNvSpPr/>
          <p:nvPr/>
        </p:nvSpPr>
        <p:spPr>
          <a:xfrm>
            <a:off x="609600" y="4925020"/>
            <a:ext cx="10991850" cy="889397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Initial customer hypothesis: 500–5,000 engineers, existing identity and cloud platform, multiple AI services.</a:t>
            </a:r>
            <a:endParaRPr lang="en-US"/>
          </a:p>
        </p:txBody>
      </p:sp>
      <p:pic>
        <p:nvPicPr>
          <p:cNvPr id="172" name="Presenton Native Image 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576" name="Shape 576"/>
          <p:cNvSpPr/>
          <p:nvPr/>
        </p:nvSpPr>
        <p:spPr>
          <a:xfrm>
            <a:off x="609600" y="6438900"/>
            <a:ext cx="3794224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ICP, buying process and budget ownership are hypotheses to validate</a:t>
            </a:r>
            <a:endParaRPr lang="en-US"/>
          </a:p>
        </p:txBody>
      </p:sp>
      <p:sp>
        <p:nvSpPr>
          <p:cNvPr id="577" name="Shape 577"/>
          <p:cNvSpPr/>
          <p:nvPr/>
        </p:nvSpPr>
        <p:spPr>
          <a:xfrm>
            <a:off x="11206460" y="6438900"/>
            <a:ext cx="394990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04 / 21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579" name="Shape 579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580" name="Shape 580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THE CORE PRODUCT</a:t>
            </a:r>
            <a:endParaRPr lang="en-US"/>
          </a:p>
        </p:txBody>
      </p:sp>
      <p:sp>
        <p:nvSpPr>
          <p:cNvPr id="581" name="Shape 581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Publish an approved AI work profile.</a:t>
            </a:r>
            <a:endParaRPr lang="en-US"/>
          </a:p>
        </p:txBody>
      </p:sp>
      <p:sp>
        <p:nvSpPr>
          <p:cNvPr id="582" name="Shape 582"/>
          <p:cNvSpPr/>
          <p:nvPr/>
        </p:nvSpPr>
        <p:spPr>
          <a:xfrm>
            <a:off x="609600" y="1792784"/>
            <a:ext cx="7286625" cy="2655391"/>
          </a:xfrm>
          <a:prstGeom prst="rect">
            <a:avLst/>
          </a:prstGeom>
          <a:solidFill>
            <a:srgbClr val="FFFFFF"/>
          </a:solidFill>
          <a:ln w="9525">
            <a:solidFill>
              <a:srgbClr val="9EBBF7"/>
            </a:solidFill>
          </a:ln>
        </p:spPr>
        <p:txBody>
          <a:bodyPr/>
          <a:lstStyle/>
          <a:p/>
        </p:txBody>
      </p:sp>
      <p:sp>
        <p:nvSpPr>
          <p:cNvPr id="583" name="Shape 583"/>
          <p:cNvSpPr/>
          <p:nvPr/>
        </p:nvSpPr>
        <p:spPr>
          <a:xfrm>
            <a:off x="619125" y="1802309"/>
            <a:ext cx="7267575" cy="619125"/>
          </a:xfrm>
          <a:prstGeom prst="rect">
            <a:avLst/>
          </a:prstGeom>
          <a:solidFill>
            <a:srgbClr val="1647D8"/>
          </a:solidFill>
        </p:spPr>
        <p:txBody>
          <a:bodyPr/>
          <a:lstStyle/>
          <a:p/>
        </p:txBody>
      </p:sp>
      <p:sp>
        <p:nvSpPr>
          <p:cNvPr id="584" name="Shape 584"/>
          <p:cNvSpPr/>
          <p:nvPr/>
        </p:nvSpPr>
        <p:spPr>
          <a:xfrm>
            <a:off x="847725" y="1954709"/>
            <a:ext cx="5060752" cy="3143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75"/>
              </a:lnSpc>
              <a:buNone/>
            </a:pPr>
            <a:r>
              <a:rPr sz="1650" b="1" i="0">
                <a:solidFill>
                  <a:srgbClr val="FFFFFF"/>
                </a:solidFill>
                <a:latin typeface="Sora"/>
                <a:ea typeface="Sora"/>
              </a:rPr>
              <a:t>Platform engineering / Read-only investigation</a:t>
            </a:r>
            <a:endParaRPr lang="en-US"/>
          </a:p>
        </p:txBody>
      </p:sp>
      <p:sp>
        <p:nvSpPr>
          <p:cNvPr id="585" name="Shape 585"/>
          <p:cNvSpPr/>
          <p:nvPr/>
        </p:nvSpPr>
        <p:spPr>
          <a:xfrm>
            <a:off x="7055644" y="1954709"/>
            <a:ext cx="621506" cy="314325"/>
          </a:xfrm>
          <a:prstGeom prst="rect">
            <a:avLst/>
          </a:prstGeom>
          <a:noFill/>
        </p:spPr>
        <p:txBody>
          <a:bodyPr anchor="t" wrap="square" tIns="47625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0" i="0">
                <a:solidFill>
                  <a:srgbClr val="FFFFFF"/>
                </a:solidFill>
                <a:latin typeface="Inter"/>
                <a:ea typeface="Inter"/>
              </a:rPr>
              <a:t>CONCEPT</a:t>
            </a:r>
            <a:endParaRPr lang="en-US"/>
          </a:p>
        </p:txBody>
      </p:sp>
      <p:sp>
        <p:nvSpPr>
          <p:cNvPr id="586" name="Shape 586"/>
          <p:cNvSpPr/>
          <p:nvPr/>
        </p:nvSpPr>
        <p:spPr>
          <a:xfrm>
            <a:off x="619125" y="2421434"/>
            <a:ext cx="3633788" cy="1008608"/>
          </a:xfrm>
          <a:prstGeom prst="rect">
            <a:avLst/>
          </a:prstGeom>
          <a:noFill/>
          <a:ln w="9525">
            <a:solidFill>
              <a:srgbClr val="E4EBF8"/>
            </a:solidFill>
          </a:ln>
        </p:spPr>
        <p:txBody>
          <a:bodyPr/>
          <a:lstStyle/>
          <a:p/>
        </p:txBody>
      </p:sp>
      <p:sp>
        <p:nvSpPr>
          <p:cNvPr id="587" name="Shape 587"/>
          <p:cNvSpPr/>
          <p:nvPr/>
        </p:nvSpPr>
        <p:spPr>
          <a:xfrm>
            <a:off x="838200" y="2640509"/>
            <a:ext cx="3214688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1" i="0">
                <a:solidFill>
                  <a:srgbClr val="1647D8"/>
                </a:solidFill>
                <a:latin typeface="Inter"/>
                <a:ea typeface="Inter"/>
              </a:rPr>
              <a:t>ENVIRONMENT</a:t>
            </a:r>
            <a:endParaRPr lang="en-US"/>
          </a:p>
        </p:txBody>
      </p:sp>
      <p:sp>
        <p:nvSpPr>
          <p:cNvPr id="588" name="Shape 588"/>
          <p:cNvSpPr/>
          <p:nvPr/>
        </p:nvSpPr>
        <p:spPr>
          <a:xfrm>
            <a:off x="838200" y="2931021"/>
            <a:ext cx="3214688" cy="2799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05"/>
              </a:lnSpc>
              <a:buNone/>
            </a:pPr>
            <a:r>
              <a:rPr sz="1575" b="0" i="0">
                <a:solidFill>
                  <a:srgbClr val="344054"/>
                </a:solidFill>
                <a:latin typeface="Inter"/>
                <a:ea typeface="Inter"/>
              </a:rPr>
              <a:t>IDE, runtime and network</a:t>
            </a:r>
            <a:endParaRPr lang="en-US"/>
          </a:p>
        </p:txBody>
      </p:sp>
      <p:sp>
        <p:nvSpPr>
          <p:cNvPr id="589" name="Shape 589"/>
          <p:cNvSpPr/>
          <p:nvPr/>
        </p:nvSpPr>
        <p:spPr>
          <a:xfrm>
            <a:off x="4252913" y="2421434"/>
            <a:ext cx="3633788" cy="1008608"/>
          </a:xfrm>
          <a:prstGeom prst="rect">
            <a:avLst/>
          </a:prstGeom>
          <a:noFill/>
          <a:ln w="9525">
            <a:solidFill>
              <a:srgbClr val="E4EBF8"/>
            </a:solidFill>
          </a:ln>
        </p:spPr>
        <p:txBody>
          <a:bodyPr/>
          <a:lstStyle/>
          <a:p/>
        </p:txBody>
      </p:sp>
      <p:sp>
        <p:nvSpPr>
          <p:cNvPr id="590" name="Shape 590"/>
          <p:cNvSpPr/>
          <p:nvPr/>
        </p:nvSpPr>
        <p:spPr>
          <a:xfrm>
            <a:off x="4471988" y="2640509"/>
            <a:ext cx="3214688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1" i="0">
                <a:solidFill>
                  <a:srgbClr val="1647D8"/>
                </a:solidFill>
                <a:latin typeface="Inter"/>
                <a:ea typeface="Inter"/>
              </a:rPr>
              <a:t>INTELLIGENCE</a:t>
            </a:r>
            <a:endParaRPr lang="en-US"/>
          </a:p>
        </p:txBody>
      </p:sp>
      <p:sp>
        <p:nvSpPr>
          <p:cNvPr id="591" name="Shape 591"/>
          <p:cNvSpPr/>
          <p:nvPr/>
        </p:nvSpPr>
        <p:spPr>
          <a:xfrm>
            <a:off x="4471988" y="2931021"/>
            <a:ext cx="3214688" cy="2799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05"/>
              </a:lnSpc>
              <a:buNone/>
            </a:pPr>
            <a:r>
              <a:rPr sz="1575" b="0" i="0">
                <a:solidFill>
                  <a:srgbClr val="344054"/>
                </a:solidFill>
                <a:latin typeface="Inter"/>
                <a:ea typeface="Inter"/>
              </a:rPr>
              <a:t>Models, context and skills</a:t>
            </a:r>
            <a:endParaRPr lang="en-US"/>
          </a:p>
        </p:txBody>
      </p:sp>
      <p:sp>
        <p:nvSpPr>
          <p:cNvPr id="592" name="Shape 592"/>
          <p:cNvSpPr/>
          <p:nvPr/>
        </p:nvSpPr>
        <p:spPr>
          <a:xfrm>
            <a:off x="619125" y="3430042"/>
            <a:ext cx="3633788" cy="1008608"/>
          </a:xfrm>
          <a:prstGeom prst="rect">
            <a:avLst/>
          </a:prstGeom>
          <a:noFill/>
          <a:ln w="9525">
            <a:solidFill>
              <a:srgbClr val="E4EBF8"/>
            </a:solidFill>
          </a:ln>
        </p:spPr>
        <p:txBody>
          <a:bodyPr/>
          <a:lstStyle/>
          <a:p/>
        </p:txBody>
      </p:sp>
      <p:sp>
        <p:nvSpPr>
          <p:cNvPr id="593" name="Shape 593"/>
          <p:cNvSpPr/>
          <p:nvPr/>
        </p:nvSpPr>
        <p:spPr>
          <a:xfrm>
            <a:off x="838200" y="3649117"/>
            <a:ext cx="3214688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1" i="0">
                <a:solidFill>
                  <a:srgbClr val="1647D8"/>
                </a:solidFill>
                <a:latin typeface="Inter"/>
                <a:ea typeface="Inter"/>
              </a:rPr>
              <a:t>AUTHORITY</a:t>
            </a:r>
            <a:endParaRPr lang="en-US"/>
          </a:p>
        </p:txBody>
      </p:sp>
      <p:sp>
        <p:nvSpPr>
          <p:cNvPr id="594" name="Shape 594"/>
          <p:cNvSpPr/>
          <p:nvPr/>
        </p:nvSpPr>
        <p:spPr>
          <a:xfrm>
            <a:off x="838200" y="3939629"/>
            <a:ext cx="3214688" cy="2799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05"/>
              </a:lnSpc>
              <a:buNone/>
            </a:pPr>
            <a:r>
              <a:rPr sz="1575" b="0" i="0">
                <a:solidFill>
                  <a:srgbClr val="344054"/>
                </a:solidFill>
                <a:latin typeface="Inter"/>
                <a:ea typeface="Inter"/>
              </a:rPr>
              <a:t>Identity, tools and approvals</a:t>
            </a:r>
            <a:endParaRPr lang="en-US"/>
          </a:p>
        </p:txBody>
      </p:sp>
      <p:sp>
        <p:nvSpPr>
          <p:cNvPr id="595" name="Shape 595"/>
          <p:cNvSpPr/>
          <p:nvPr/>
        </p:nvSpPr>
        <p:spPr>
          <a:xfrm>
            <a:off x="4252913" y="3430042"/>
            <a:ext cx="3633788" cy="1008608"/>
          </a:xfrm>
          <a:prstGeom prst="rect">
            <a:avLst/>
          </a:prstGeom>
          <a:noFill/>
          <a:ln w="9525">
            <a:solidFill>
              <a:srgbClr val="E4EBF8"/>
            </a:solidFill>
          </a:ln>
        </p:spPr>
        <p:txBody>
          <a:bodyPr/>
          <a:lstStyle/>
          <a:p/>
        </p:txBody>
      </p:sp>
      <p:sp>
        <p:nvSpPr>
          <p:cNvPr id="596" name="Shape 596"/>
          <p:cNvSpPr/>
          <p:nvPr/>
        </p:nvSpPr>
        <p:spPr>
          <a:xfrm>
            <a:off x="4471988" y="3649117"/>
            <a:ext cx="3214688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1" i="0">
                <a:solidFill>
                  <a:srgbClr val="1647D8"/>
                </a:solidFill>
                <a:latin typeface="Inter"/>
                <a:ea typeface="Inter"/>
              </a:rPr>
              <a:t>OPERATIONS</a:t>
            </a:r>
            <a:endParaRPr lang="en-US"/>
          </a:p>
        </p:txBody>
      </p:sp>
      <p:sp>
        <p:nvSpPr>
          <p:cNvPr id="597" name="Shape 597"/>
          <p:cNvSpPr/>
          <p:nvPr/>
        </p:nvSpPr>
        <p:spPr>
          <a:xfrm>
            <a:off x="4471988" y="3939629"/>
            <a:ext cx="3214688" cy="2799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05"/>
              </a:lnSpc>
              <a:buNone/>
            </a:pPr>
            <a:r>
              <a:rPr sz="1575" b="0" i="0">
                <a:solidFill>
                  <a:srgbClr val="344054"/>
                </a:solidFill>
                <a:latin typeface="Inter"/>
                <a:ea typeface="Inter"/>
              </a:rPr>
              <a:t>Checks, limits and evidence</a:t>
            </a:r>
            <a:endParaRPr lang="en-US"/>
          </a:p>
        </p:txBody>
      </p:sp>
      <p:sp>
        <p:nvSpPr>
          <p:cNvPr id="598" name="Shape 598"/>
          <p:cNvSpPr/>
          <p:nvPr/>
        </p:nvSpPr>
        <p:spPr>
          <a:xfrm>
            <a:off x="8134350" y="1954709"/>
            <a:ext cx="3467100" cy="110728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906"/>
              </a:lnSpc>
              <a:buNone/>
            </a:pPr>
            <a:r>
              <a:rPr sz="2325" b="1" i="0">
                <a:solidFill>
                  <a:srgbClr val="182230"/>
                </a:solidFill>
                <a:latin typeface="Sora"/>
                <a:ea typeface="Sora"/>
              </a:rPr>
              <a:t>Configure once.</a:t>
            </a:r>
            <a:r>
              <a:rPr sz="2325" b="1" i="0">
                <a:solidFill>
                  <a:srgbClr val="182230"/>
                </a:solidFill>
                <a:latin typeface="Sora"/>
                <a:ea typeface="Sora"/>
              </a:rPr>
              <a:t xml:space="preserve">
</a:t>
            </a:r>
            <a:r>
              <a:rPr sz="2325" b="1" i="0">
                <a:solidFill>
                  <a:srgbClr val="182230"/>
                </a:solidFill>
                <a:latin typeface="Sora"/>
                <a:ea typeface="Sora"/>
              </a:rPr>
              <a:t>Publish to the</a:t>
            </a:r>
            <a:r>
              <a:rPr sz="2325" b="1" i="0">
                <a:solidFill>
                  <a:srgbClr val="182230"/>
                </a:solidFill>
                <a:latin typeface="Sora"/>
                <a:ea typeface="Sora"/>
              </a:rPr>
              <a:t xml:space="preserve">
</a:t>
            </a:r>
            <a:r>
              <a:rPr sz="2325" b="1" i="0">
                <a:solidFill>
                  <a:srgbClr val="182230"/>
                </a:solidFill>
                <a:latin typeface="Sora"/>
                <a:ea typeface="Sora"/>
              </a:rPr>
              <a:t>right employees.</a:t>
            </a:r>
            <a:endParaRPr lang="en-US"/>
          </a:p>
        </p:txBody>
      </p:sp>
      <p:sp>
        <p:nvSpPr>
          <p:cNvPr id="599" name="Shape 599"/>
          <p:cNvSpPr/>
          <p:nvPr/>
        </p:nvSpPr>
        <p:spPr>
          <a:xfrm>
            <a:off x="8134350" y="3252490"/>
            <a:ext cx="3467100" cy="8800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10"/>
              </a:lnSpc>
              <a:buNone/>
            </a:pPr>
            <a:r>
              <a:rPr sz="1650" b="0" i="0">
                <a:solidFill>
                  <a:srgbClr val="667085"/>
                </a:solidFill>
                <a:latin typeface="Inter"/>
                <a:ea typeface="Inter"/>
              </a:rPr>
              <a:t>An understandable effective configuration for each supported workflow.</a:t>
            </a:r>
            <a:endParaRPr lang="en-US"/>
          </a:p>
        </p:txBody>
      </p:sp>
      <p:pic>
        <p:nvPicPr>
          <p:cNvPr id="173" name="Presenton Native Image 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600" name="Shape 600"/>
          <p:cNvSpPr/>
          <p:nvPr/>
        </p:nvSpPr>
        <p:spPr>
          <a:xfrm>
            <a:off x="609600" y="6438900"/>
            <a:ext cx="5840462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Proposed product experience • Illustrative concept, not a working interface • Adapters qualified individually</a:t>
            </a:r>
            <a:endParaRPr lang="en-US"/>
          </a:p>
        </p:txBody>
      </p:sp>
      <p:sp>
        <p:nvSpPr>
          <p:cNvPr id="601" name="Shape 601"/>
          <p:cNvSpPr/>
          <p:nvPr/>
        </p:nvSpPr>
        <p:spPr>
          <a:xfrm>
            <a:off x="11209288" y="6438900"/>
            <a:ext cx="392162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05 / 21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Shape 602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603" name="Shape 603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604" name="Shape 604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EMPLOYEE EXPERIENCE</a:t>
            </a:r>
            <a:endParaRPr lang="en-US"/>
          </a:p>
        </p:txBody>
      </p:sp>
      <p:sp>
        <p:nvSpPr>
          <p:cNvPr id="605" name="Shape 605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From approved access to useful work.</a:t>
            </a:r>
            <a:endParaRPr lang="en-US"/>
          </a:p>
        </p:txBody>
      </p:sp>
      <p:sp>
        <p:nvSpPr>
          <p:cNvPr id="606" name="Shape 606"/>
          <p:cNvSpPr/>
          <p:nvPr/>
        </p:nvSpPr>
        <p:spPr>
          <a:xfrm>
            <a:off x="609600" y="1840409"/>
            <a:ext cx="2600325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07" name="Shape 607"/>
          <p:cNvSpPr/>
          <p:nvPr/>
        </p:nvSpPr>
        <p:spPr>
          <a:xfrm>
            <a:off x="866775" y="2097584"/>
            <a:ext cx="21050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1 / CONFIGURE</a:t>
            </a:r>
            <a:endParaRPr lang="en-US"/>
          </a:p>
        </p:txBody>
      </p:sp>
      <p:sp>
        <p:nvSpPr>
          <p:cNvPr id="608" name="Shape 608"/>
          <p:cNvSpPr/>
          <p:nvPr/>
        </p:nvSpPr>
        <p:spPr>
          <a:xfrm>
            <a:off x="866775" y="2450009"/>
            <a:ext cx="2105025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Connect</a:t>
            </a:r>
            <a:endParaRPr lang="en-US"/>
          </a:p>
        </p:txBody>
      </p:sp>
      <p:sp>
        <p:nvSpPr>
          <p:cNvPr id="609" name="Shape 609"/>
          <p:cNvSpPr/>
          <p:nvPr/>
        </p:nvSpPr>
        <p:spPr>
          <a:xfrm>
            <a:off x="866775" y="2910929"/>
            <a:ext cx="2105025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Identity, services and an environment template.</a:t>
            </a:r>
            <a:endParaRPr lang="en-US"/>
          </a:p>
        </p:txBody>
      </p:sp>
      <p:sp>
        <p:nvSpPr>
          <p:cNvPr id="610" name="Shape 610"/>
          <p:cNvSpPr/>
          <p:nvPr/>
        </p:nvSpPr>
        <p:spPr>
          <a:xfrm>
            <a:off x="3400425" y="1840409"/>
            <a:ext cx="2600325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11" name="Shape 611"/>
          <p:cNvSpPr/>
          <p:nvPr/>
        </p:nvSpPr>
        <p:spPr>
          <a:xfrm>
            <a:off x="3657600" y="2097584"/>
            <a:ext cx="21050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2 / PUBLISH</a:t>
            </a:r>
            <a:endParaRPr lang="en-US"/>
          </a:p>
        </p:txBody>
      </p:sp>
      <p:sp>
        <p:nvSpPr>
          <p:cNvPr id="612" name="Shape 612"/>
          <p:cNvSpPr/>
          <p:nvPr/>
        </p:nvSpPr>
        <p:spPr>
          <a:xfrm>
            <a:off x="3657600" y="2450009"/>
            <a:ext cx="2105025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Assign</a:t>
            </a:r>
            <a:endParaRPr lang="en-US"/>
          </a:p>
        </p:txBody>
      </p:sp>
      <p:sp>
        <p:nvSpPr>
          <p:cNvPr id="613" name="Shape 613"/>
          <p:cNvSpPr/>
          <p:nvPr/>
        </p:nvSpPr>
        <p:spPr>
          <a:xfrm>
            <a:off x="3657600" y="2910929"/>
            <a:ext cx="2105025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A reviewed work profile to a group or project.</a:t>
            </a:r>
            <a:endParaRPr lang="en-US"/>
          </a:p>
        </p:txBody>
      </p:sp>
      <p:sp>
        <p:nvSpPr>
          <p:cNvPr id="614" name="Shape 614"/>
          <p:cNvSpPr/>
          <p:nvPr/>
        </p:nvSpPr>
        <p:spPr>
          <a:xfrm>
            <a:off x="6191250" y="1840409"/>
            <a:ext cx="2600325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15" name="Shape 615"/>
          <p:cNvSpPr/>
          <p:nvPr/>
        </p:nvSpPr>
        <p:spPr>
          <a:xfrm>
            <a:off x="6448425" y="2097584"/>
            <a:ext cx="21050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3 / WORK</a:t>
            </a:r>
            <a:endParaRPr lang="en-US"/>
          </a:p>
        </p:txBody>
      </p:sp>
      <p:sp>
        <p:nvSpPr>
          <p:cNvPr id="616" name="Shape 616"/>
          <p:cNvSpPr/>
          <p:nvPr/>
        </p:nvSpPr>
        <p:spPr>
          <a:xfrm>
            <a:off x="6448425" y="2450009"/>
            <a:ext cx="2105025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Launch</a:t>
            </a:r>
            <a:endParaRPr lang="en-US"/>
          </a:p>
        </p:txBody>
      </p:sp>
      <p:sp>
        <p:nvSpPr>
          <p:cNvPr id="617" name="Shape 617"/>
          <p:cNvSpPr/>
          <p:nvPr/>
        </p:nvSpPr>
        <p:spPr>
          <a:xfrm>
            <a:off x="6448425" y="2910929"/>
            <a:ext cx="2105025" cy="121503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A supported environment with policy-bound operations.</a:t>
            </a:r>
            <a:endParaRPr lang="en-US"/>
          </a:p>
        </p:txBody>
      </p:sp>
      <p:sp>
        <p:nvSpPr>
          <p:cNvPr id="618" name="Shape 618"/>
          <p:cNvSpPr/>
          <p:nvPr/>
        </p:nvSpPr>
        <p:spPr>
          <a:xfrm>
            <a:off x="8982075" y="1840409"/>
            <a:ext cx="2600325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19" name="Shape 619"/>
          <p:cNvSpPr/>
          <p:nvPr/>
        </p:nvSpPr>
        <p:spPr>
          <a:xfrm>
            <a:off x="9239250" y="2097584"/>
            <a:ext cx="21050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4 / OPERATE</a:t>
            </a:r>
            <a:endParaRPr lang="en-US"/>
          </a:p>
        </p:txBody>
      </p:sp>
      <p:sp>
        <p:nvSpPr>
          <p:cNvPr id="620" name="Shape 620"/>
          <p:cNvSpPr/>
          <p:nvPr/>
        </p:nvSpPr>
        <p:spPr>
          <a:xfrm>
            <a:off x="9239250" y="2450009"/>
            <a:ext cx="2105025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Control</a:t>
            </a:r>
            <a:endParaRPr lang="en-US"/>
          </a:p>
        </p:txBody>
      </p:sp>
      <p:sp>
        <p:nvSpPr>
          <p:cNvPr id="621" name="Shape 621"/>
          <p:cNvSpPr/>
          <p:nvPr/>
        </p:nvSpPr>
        <p:spPr>
          <a:xfrm>
            <a:off x="9239250" y="2910929"/>
            <a:ext cx="2105025" cy="121503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Review, resolve exceptions, stop runs and revoke access.</a:t>
            </a:r>
            <a:endParaRPr lang="en-US"/>
          </a:p>
        </p:txBody>
      </p:sp>
      <p:pic>
        <p:nvPicPr>
          <p:cNvPr id="174" name="Presenton Native Image 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4611737"/>
            <a:ext cx="10972800" cy="606623"/>
          </a:xfrm>
          <a:prstGeom prst="rect">
            <a:avLst/>
          </a:prstGeom>
        </p:spPr>
      </p:pic>
      <p:sp>
        <p:nvSpPr>
          <p:cNvPr id="622" name="Shape 622"/>
          <p:cNvSpPr/>
          <p:nvPr/>
        </p:nvSpPr>
        <p:spPr>
          <a:xfrm>
            <a:off x="609600" y="4611737"/>
            <a:ext cx="10991850" cy="606623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Example: investigate a service issue and propose a code change without production write access.</a:t>
            </a:r>
            <a:endParaRPr lang="en-US"/>
          </a:p>
        </p:txBody>
      </p:sp>
      <p:pic>
        <p:nvPicPr>
          <p:cNvPr id="175" name="Presenton Native Image 9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623" name="Shape 623"/>
          <p:cNvSpPr/>
          <p:nvPr/>
        </p:nvSpPr>
        <p:spPr>
          <a:xfrm>
            <a:off x="609600" y="6438900"/>
            <a:ext cx="3750469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Concept workflow • Launch-to-revocation support must be validated</a:t>
            </a:r>
            <a:endParaRPr lang="en-US"/>
          </a:p>
        </p:txBody>
      </p:sp>
      <p:sp>
        <p:nvSpPr>
          <p:cNvPr id="624" name="Shape 624"/>
          <p:cNvSpPr/>
          <p:nvPr/>
        </p:nvSpPr>
        <p:spPr>
          <a:xfrm>
            <a:off x="11204674" y="6438900"/>
            <a:ext cx="396776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06 / 21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Shape 625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626" name="Shape 626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627" name="Shape 627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MOST VALUABLE CONTROL</a:t>
            </a:r>
            <a:endParaRPr lang="en-US"/>
          </a:p>
        </p:txBody>
      </p:sp>
      <p:sp>
        <p:nvSpPr>
          <p:cNvPr id="628" name="Shape 628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Protect the boundary of the work.</a:t>
            </a:r>
            <a:endParaRPr lang="en-US"/>
          </a:p>
        </p:txBody>
      </p:sp>
      <p:sp>
        <p:nvSpPr>
          <p:cNvPr id="629" name="Shape 629"/>
          <p:cNvSpPr/>
          <p:nvPr/>
        </p:nvSpPr>
        <p:spPr>
          <a:xfrm>
            <a:off x="609600" y="1792784"/>
            <a:ext cx="5381625" cy="1935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30" name="Shape 630"/>
          <p:cNvSpPr/>
          <p:nvPr/>
        </p:nvSpPr>
        <p:spPr>
          <a:xfrm>
            <a:off x="866775" y="2049959"/>
            <a:ext cx="48863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BEFORE MODEL DISPATCH</a:t>
            </a:r>
            <a:endParaRPr lang="en-US"/>
          </a:p>
        </p:txBody>
      </p:sp>
      <p:sp>
        <p:nvSpPr>
          <p:cNvPr id="631" name="Shape 631"/>
          <p:cNvSpPr/>
          <p:nvPr/>
        </p:nvSpPr>
        <p:spPr>
          <a:xfrm>
            <a:off x="866775" y="2402384"/>
            <a:ext cx="4886325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Control data and destination</a:t>
            </a:r>
            <a:endParaRPr lang="en-US"/>
          </a:p>
        </p:txBody>
      </p:sp>
      <p:sp>
        <p:nvSpPr>
          <p:cNvPr id="632" name="Shape 632"/>
          <p:cNvSpPr/>
          <p:nvPr/>
        </p:nvSpPr>
        <p:spPr>
          <a:xfrm>
            <a:off x="866775" y="2863304"/>
            <a:ext cx="4886325" cy="6075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Check eligible context and provider; allow, redact, route, block or request review.</a:t>
            </a:r>
            <a:endParaRPr lang="en-US"/>
          </a:p>
        </p:txBody>
      </p:sp>
      <p:sp>
        <p:nvSpPr>
          <p:cNvPr id="633" name="Shape 633"/>
          <p:cNvSpPr/>
          <p:nvPr/>
        </p:nvSpPr>
        <p:spPr>
          <a:xfrm>
            <a:off x="6200775" y="1792784"/>
            <a:ext cx="5381625" cy="1935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34" name="Shape 634"/>
          <p:cNvSpPr/>
          <p:nvPr/>
        </p:nvSpPr>
        <p:spPr>
          <a:xfrm>
            <a:off x="6457950" y="2049959"/>
            <a:ext cx="48863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BEFORE TOOL EXECUTION</a:t>
            </a:r>
            <a:endParaRPr lang="en-US"/>
          </a:p>
        </p:txBody>
      </p:sp>
      <p:sp>
        <p:nvSpPr>
          <p:cNvPr id="635" name="Shape 635"/>
          <p:cNvSpPr/>
          <p:nvPr/>
        </p:nvSpPr>
        <p:spPr>
          <a:xfrm>
            <a:off x="6457950" y="2402384"/>
            <a:ext cx="4886325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Bound identity and action</a:t>
            </a:r>
            <a:endParaRPr lang="en-US"/>
          </a:p>
        </p:txBody>
      </p:sp>
      <p:sp>
        <p:nvSpPr>
          <p:cNvPr id="636" name="Shape 636"/>
          <p:cNvSpPr/>
          <p:nvPr/>
        </p:nvSpPr>
        <p:spPr>
          <a:xfrm>
            <a:off x="6457950" y="2863304"/>
            <a:ext cx="4886325" cy="6075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Check resource scope, arguments and approvals; constrain runtime and network.</a:t>
            </a:r>
            <a:endParaRPr lang="en-US"/>
          </a:p>
        </p:txBody>
      </p:sp>
      <p:pic>
        <p:nvPicPr>
          <p:cNvPr id="176" name="Presenton Native Image 1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3956596"/>
            <a:ext cx="10972800" cy="606623"/>
          </a:xfrm>
          <a:prstGeom prst="rect">
            <a:avLst/>
          </a:prstGeom>
        </p:spPr>
      </p:pic>
      <p:sp>
        <p:nvSpPr>
          <p:cNvPr id="637" name="Shape 637"/>
          <p:cNvSpPr/>
          <p:nvPr/>
        </p:nvSpPr>
        <p:spPr>
          <a:xfrm>
            <a:off x="609600" y="3956596"/>
            <a:ext cx="10991850" cy="606623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Minimized evidence ties the decision to the policy, run and outcome.</a:t>
            </a:r>
            <a:endParaRPr lang="en-US"/>
          </a:p>
        </p:txBody>
      </p:sp>
      <p:pic>
        <p:nvPicPr>
          <p:cNvPr id="177" name="Presenton Native Image 11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638" name="Shape 638"/>
          <p:cNvSpPr/>
          <p:nvPr/>
        </p:nvSpPr>
        <p:spPr>
          <a:xfrm>
            <a:off x="609600" y="6438900"/>
            <a:ext cx="6862911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Supported, instrumented paths only • No universal secret detection • No silent external fallback • Scanners are data recipients</a:t>
            </a:r>
            <a:endParaRPr lang="en-US"/>
          </a:p>
        </p:txBody>
      </p:sp>
      <p:sp>
        <p:nvSpPr>
          <p:cNvPr id="639" name="Shape 639"/>
          <p:cNvSpPr/>
          <p:nvPr/>
        </p:nvSpPr>
        <p:spPr>
          <a:xfrm>
            <a:off x="11214050" y="6438900"/>
            <a:ext cx="387400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07 / 21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Shape 640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641" name="Shape 641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642" name="Shape 642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COMPANY CHOICE</a:t>
            </a:r>
            <a:endParaRPr lang="en-US"/>
          </a:p>
        </p:txBody>
      </p:sp>
      <p:sp>
        <p:nvSpPr>
          <p:cNvPr id="643" name="Shape 643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Local, cloud or hybrid—by policy.</a:t>
            </a:r>
            <a:endParaRPr lang="en-US"/>
          </a:p>
        </p:txBody>
      </p:sp>
      <p:sp>
        <p:nvSpPr>
          <p:cNvPr id="644" name="Shape 644"/>
          <p:cNvSpPr/>
          <p:nvPr/>
        </p:nvSpPr>
        <p:spPr>
          <a:xfrm>
            <a:off x="609600" y="1840409"/>
            <a:ext cx="3530501" cy="2547491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45" name="Shape 645"/>
          <p:cNvSpPr/>
          <p:nvPr/>
        </p:nvSpPr>
        <p:spPr>
          <a:xfrm>
            <a:off x="86677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INTERNAL-ONLY</a:t>
            </a:r>
            <a:endParaRPr lang="en-US"/>
          </a:p>
        </p:txBody>
      </p:sp>
      <p:sp>
        <p:nvSpPr>
          <p:cNvPr id="646" name="Shape 646"/>
          <p:cNvSpPr/>
          <p:nvPr/>
        </p:nvSpPr>
        <p:spPr>
          <a:xfrm>
            <a:off x="866775" y="2450009"/>
            <a:ext cx="3035201" cy="61704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Keep eligible work inside</a:t>
            </a:r>
            <a:endParaRPr lang="en-US"/>
          </a:p>
        </p:txBody>
      </p:sp>
      <p:sp>
        <p:nvSpPr>
          <p:cNvPr id="647" name="Shape 647"/>
          <p:cNvSpPr/>
          <p:nvPr/>
        </p:nvSpPr>
        <p:spPr>
          <a:xfrm>
            <a:off x="866775" y="3219450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Qualified internal inference and its required internal dependencies.</a:t>
            </a:r>
            <a:endParaRPr lang="en-US"/>
          </a:p>
        </p:txBody>
      </p:sp>
      <p:sp>
        <p:nvSpPr>
          <p:cNvPr id="648" name="Shape 648"/>
          <p:cNvSpPr/>
          <p:nvPr/>
        </p:nvSpPr>
        <p:spPr>
          <a:xfrm>
            <a:off x="4330601" y="1840409"/>
            <a:ext cx="3530650" cy="2547491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49" name="Shape 649"/>
          <p:cNvSpPr/>
          <p:nvPr/>
        </p:nvSpPr>
        <p:spPr>
          <a:xfrm>
            <a:off x="4587776" y="2097584"/>
            <a:ext cx="30353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APPROVED EXTERNAL</a:t>
            </a:r>
            <a:endParaRPr lang="en-US"/>
          </a:p>
        </p:txBody>
      </p:sp>
      <p:sp>
        <p:nvSpPr>
          <p:cNvPr id="650" name="Shape 650"/>
          <p:cNvSpPr/>
          <p:nvPr/>
        </p:nvSpPr>
        <p:spPr>
          <a:xfrm>
            <a:off x="4587776" y="2450009"/>
            <a:ext cx="3035350" cy="61704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Use permitted providers</a:t>
            </a:r>
            <a:endParaRPr lang="en-US"/>
          </a:p>
        </p:txBody>
      </p:sp>
      <p:sp>
        <p:nvSpPr>
          <p:cNvPr id="651" name="Shape 651"/>
          <p:cNvSpPr/>
          <p:nvPr/>
        </p:nvSpPr>
        <p:spPr>
          <a:xfrm>
            <a:off x="4587776" y="3219450"/>
            <a:ext cx="3035350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Only eligible data, services and destinations under company rules.</a:t>
            </a:r>
            <a:endParaRPr lang="en-US"/>
          </a:p>
        </p:txBody>
      </p:sp>
      <p:sp>
        <p:nvSpPr>
          <p:cNvPr id="652" name="Shape 652"/>
          <p:cNvSpPr/>
          <p:nvPr/>
        </p:nvSpPr>
        <p:spPr>
          <a:xfrm>
            <a:off x="8051750" y="1840409"/>
            <a:ext cx="3530501" cy="2547491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53" name="Shape 653"/>
          <p:cNvSpPr/>
          <p:nvPr/>
        </p:nvSpPr>
        <p:spPr>
          <a:xfrm>
            <a:off x="830892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HYBRID</a:t>
            </a:r>
            <a:endParaRPr lang="en-US"/>
          </a:p>
        </p:txBody>
      </p:sp>
      <p:sp>
        <p:nvSpPr>
          <p:cNvPr id="654" name="Shape 654"/>
          <p:cNvSpPr/>
          <p:nvPr/>
        </p:nvSpPr>
        <p:spPr>
          <a:xfrm>
            <a:off x="8308925" y="2450009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Match the use case</a:t>
            </a:r>
            <a:endParaRPr lang="en-US"/>
          </a:p>
        </p:txBody>
      </p:sp>
      <p:sp>
        <p:nvSpPr>
          <p:cNvPr id="655" name="Shape 655"/>
          <p:cNvSpPr/>
          <p:nvPr/>
        </p:nvSpPr>
        <p:spPr>
          <a:xfrm>
            <a:off x="8308925" y="2910929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Route and fail over within the same authorization and data boundary.</a:t>
            </a:r>
            <a:endParaRPr lang="en-US"/>
          </a:p>
        </p:txBody>
      </p:sp>
      <p:pic>
        <p:nvPicPr>
          <p:cNvPr id="178" name="Presenton Native Image 12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4616500"/>
            <a:ext cx="10972800" cy="606623"/>
          </a:xfrm>
          <a:prstGeom prst="rect">
            <a:avLst/>
          </a:prstGeom>
        </p:spPr>
      </p:pic>
      <p:sp>
        <p:nvSpPr>
          <p:cNvPr id="656" name="Shape 656"/>
          <p:cNvSpPr/>
          <p:nvPr/>
        </p:nvSpPr>
        <p:spPr>
          <a:xfrm>
            <a:off x="609600" y="4616500"/>
            <a:ext cx="10991850" cy="606623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Apply the choice to memory, retrieval and inspection—not only the main LLM.</a:t>
            </a:r>
            <a:endParaRPr lang="en-US"/>
          </a:p>
        </p:txBody>
      </p:sp>
      <p:pic>
        <p:nvPicPr>
          <p:cNvPr id="179" name="Presenton Native Image 1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657" name="Shape 657"/>
          <p:cNvSpPr/>
          <p:nvPr/>
        </p:nvSpPr>
        <p:spPr>
          <a:xfrm>
            <a:off x="609600" y="6438900"/>
            <a:ext cx="596160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Configuration requires supported adapters and qualification • Hosting location alone does not establish safety</a:t>
            </a:r>
            <a:endParaRPr lang="en-US"/>
          </a:p>
        </p:txBody>
      </p:sp>
      <p:sp>
        <p:nvSpPr>
          <p:cNvPr id="658" name="Shape 658"/>
          <p:cNvSpPr/>
          <p:nvPr/>
        </p:nvSpPr>
        <p:spPr>
          <a:xfrm>
            <a:off x="11207055" y="6438900"/>
            <a:ext cx="394395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08 / 21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Shape 659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660" name="Shape 660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661" name="Shape 661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CAPABILITY VISION</a:t>
            </a:r>
            <a:endParaRPr lang="en-US"/>
          </a:p>
        </p:txBody>
      </p:sp>
      <p:sp>
        <p:nvSpPr>
          <p:cNvPr id="662" name="Shape 662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Reusable context needs ownership.</a:t>
            </a:r>
            <a:endParaRPr lang="en-US"/>
          </a:p>
        </p:txBody>
      </p:sp>
      <p:sp>
        <p:nvSpPr>
          <p:cNvPr id="663" name="Shape 663"/>
          <p:cNvSpPr/>
          <p:nvPr/>
        </p:nvSpPr>
        <p:spPr>
          <a:xfrm>
            <a:off x="609600" y="1840409"/>
            <a:ext cx="3530501" cy="2547491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64" name="Shape 664"/>
          <p:cNvSpPr/>
          <p:nvPr/>
        </p:nvSpPr>
        <p:spPr>
          <a:xfrm>
            <a:off x="86677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MEMORY / KNOWLEDGE</a:t>
            </a:r>
            <a:endParaRPr lang="en-US"/>
          </a:p>
        </p:txBody>
      </p:sp>
      <p:sp>
        <p:nvSpPr>
          <p:cNvPr id="665" name="Shape 665"/>
          <p:cNvSpPr/>
          <p:nvPr/>
        </p:nvSpPr>
        <p:spPr>
          <a:xfrm>
            <a:off x="866775" y="2450009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Source to lifecycle</a:t>
            </a:r>
            <a:endParaRPr lang="en-US"/>
          </a:p>
        </p:txBody>
      </p:sp>
      <p:sp>
        <p:nvSpPr>
          <p:cNvPr id="666" name="Shape 666"/>
          <p:cNvSpPr/>
          <p:nvPr/>
        </p:nvSpPr>
        <p:spPr>
          <a:xfrm>
            <a:off x="866775" y="2910929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Access, scope, provenance, retention and derived-data deletion.</a:t>
            </a:r>
            <a:endParaRPr lang="en-US"/>
          </a:p>
        </p:txBody>
      </p:sp>
      <p:sp>
        <p:nvSpPr>
          <p:cNvPr id="667" name="Shape 667"/>
          <p:cNvSpPr/>
          <p:nvPr/>
        </p:nvSpPr>
        <p:spPr>
          <a:xfrm>
            <a:off x="4330601" y="1840409"/>
            <a:ext cx="3530650" cy="2547491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68" name="Shape 668"/>
          <p:cNvSpPr/>
          <p:nvPr/>
        </p:nvSpPr>
        <p:spPr>
          <a:xfrm>
            <a:off x="4587776" y="2097584"/>
            <a:ext cx="30353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SKILLS / MCP</a:t>
            </a:r>
            <a:endParaRPr lang="en-US"/>
          </a:p>
        </p:txBody>
      </p:sp>
      <p:sp>
        <p:nvSpPr>
          <p:cNvPr id="669" name="Shape 669"/>
          <p:cNvSpPr/>
          <p:nvPr/>
        </p:nvSpPr>
        <p:spPr>
          <a:xfrm>
            <a:off x="4587776" y="2450009"/>
            <a:ext cx="3035350" cy="61704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Publish reviewed versions</a:t>
            </a:r>
            <a:endParaRPr lang="en-US"/>
          </a:p>
        </p:txBody>
      </p:sp>
      <p:sp>
        <p:nvSpPr>
          <p:cNvPr id="670" name="Shape 670"/>
          <p:cNvSpPr/>
          <p:nvPr/>
        </p:nvSpPr>
        <p:spPr>
          <a:xfrm>
            <a:off x="4587776" y="3219450"/>
            <a:ext cx="3035350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Explicit ownership and permissions for reusable procedures and tools.</a:t>
            </a:r>
            <a:endParaRPr lang="en-US"/>
          </a:p>
        </p:txBody>
      </p:sp>
      <p:sp>
        <p:nvSpPr>
          <p:cNvPr id="671" name="Shape 671"/>
          <p:cNvSpPr/>
          <p:nvPr/>
        </p:nvSpPr>
        <p:spPr>
          <a:xfrm>
            <a:off x="8051750" y="1840409"/>
            <a:ext cx="3530501" cy="2547491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72" name="Shape 672"/>
          <p:cNvSpPr/>
          <p:nvPr/>
        </p:nvSpPr>
        <p:spPr>
          <a:xfrm>
            <a:off x="830892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DECISION MODELS</a:t>
            </a:r>
            <a:endParaRPr lang="en-US"/>
          </a:p>
        </p:txBody>
      </p:sp>
      <p:sp>
        <p:nvSpPr>
          <p:cNvPr id="673" name="Shape 673"/>
          <p:cNvSpPr/>
          <p:nvPr/>
        </p:nvSpPr>
        <p:spPr>
          <a:xfrm>
            <a:off x="8308925" y="2450009"/>
            <a:ext cx="3035201" cy="61704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Evaluate specialist signals</a:t>
            </a:r>
            <a:endParaRPr lang="en-US"/>
          </a:p>
        </p:txBody>
      </p:sp>
      <p:sp>
        <p:nvSpPr>
          <p:cNvPr id="674" name="Shape 674"/>
          <p:cNvSpPr/>
          <p:nvPr/>
        </p:nvSpPr>
        <p:spPr>
          <a:xfrm>
            <a:off x="8308925" y="3219450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Configured classification, routing and escalation functions. Later expansion.</a:t>
            </a:r>
            <a:endParaRPr lang="en-US"/>
          </a:p>
        </p:txBody>
      </p:sp>
      <p:pic>
        <p:nvPicPr>
          <p:cNvPr id="180" name="Presenton Native Image 14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4616500"/>
            <a:ext cx="10972800" cy="606623"/>
          </a:xfrm>
          <a:prstGeom prst="rect">
            <a:avLst/>
          </a:prstGeom>
        </p:spPr>
      </p:pic>
      <p:sp>
        <p:nvSpPr>
          <p:cNvPr id="675" name="Shape 675"/>
          <p:cNvSpPr/>
          <p:nvPr/>
        </p:nvSpPr>
        <p:spPr>
          <a:xfrm>
            <a:off x="609600" y="4616500"/>
            <a:ext cx="10991850" cy="606623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Model judgment can inform workflow. It cannot grant authority.</a:t>
            </a:r>
            <a:endParaRPr lang="en-US"/>
          </a:p>
        </p:txBody>
      </p:sp>
      <p:pic>
        <p:nvPicPr>
          <p:cNvPr id="181" name="Presenton Native Image 1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676" name="Shape 676"/>
          <p:cNvSpPr/>
          <p:nvPr/>
        </p:nvSpPr>
        <p:spPr>
          <a:xfrm>
            <a:off x="609600" y="6438900"/>
            <a:ext cx="617636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Start with one qualified context path • Broad interchangeability and specialist functions are expansion hypotheses</a:t>
            </a:r>
            <a:endParaRPr lang="en-US"/>
          </a:p>
        </p:txBody>
      </p:sp>
      <p:sp>
        <p:nvSpPr>
          <p:cNvPr id="677" name="Shape 677"/>
          <p:cNvSpPr/>
          <p:nvPr/>
        </p:nvSpPr>
        <p:spPr>
          <a:xfrm>
            <a:off x="11204674" y="6438900"/>
            <a:ext cx="396776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09 / 21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678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679" name="Shape 679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680" name="Shape 680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CUSTOMER VALUE</a:t>
            </a:r>
            <a:endParaRPr lang="en-US"/>
          </a:p>
        </p:txBody>
      </p:sp>
      <p:sp>
        <p:nvSpPr>
          <p:cNvPr id="681" name="Shape 681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Prove value with the complete task.</a:t>
            </a:r>
            <a:endParaRPr lang="en-US"/>
          </a:p>
        </p:txBody>
      </p:sp>
      <p:sp>
        <p:nvSpPr>
          <p:cNvPr id="682" name="Shape 682"/>
          <p:cNvSpPr/>
          <p:nvPr/>
        </p:nvSpPr>
        <p:spPr>
          <a:xfrm>
            <a:off x="609600" y="1802309"/>
            <a:ext cx="10972800" cy="2820293"/>
          </a:xfrm>
          <a:prstGeom prst="rect">
            <a:avLst/>
          </a:prstGeom>
          <a:noFill/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683" name="Shape 683"/>
          <p:cNvSpPr/>
          <p:nvPr/>
        </p:nvSpPr>
        <p:spPr>
          <a:xfrm>
            <a:off x="619125" y="1811834"/>
            <a:ext cx="10953750" cy="477143"/>
          </a:xfrm>
          <a:prstGeom prst="rect">
            <a:avLst/>
          </a:prstGeom>
          <a:solidFill>
            <a:srgbClr val="1647D8"/>
          </a:solidFill>
        </p:spPr>
        <p:txBody>
          <a:bodyPr/>
          <a:lstStyle/>
          <a:p/>
        </p:txBody>
      </p:sp>
      <p:sp>
        <p:nvSpPr>
          <p:cNvPr id="684" name="Shape 684"/>
          <p:cNvSpPr/>
          <p:nvPr/>
        </p:nvSpPr>
        <p:spPr>
          <a:xfrm>
            <a:off x="619125" y="1811834"/>
            <a:ext cx="3352800" cy="477143"/>
          </a:xfrm>
          <a:prstGeom prst="rect">
            <a:avLst/>
          </a:prstGeom>
          <a:noFill/>
        </p:spPr>
        <p:txBody>
          <a:bodyPr anchor="t" wrap="square" tIns="133350" bIns="133350" lIns="190500" rIns="190500">
            <a:normAutofit/>
          </a:bodyPr>
          <a:lstStyle/>
          <a:p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FFFFFF"/>
                </a:solidFill>
                <a:latin typeface="Inter"/>
                <a:ea typeface="Inter"/>
              </a:rPr>
              <a:t>OUTCOME</a:t>
            </a:r>
            <a:endParaRPr lang="en-US"/>
          </a:p>
        </p:txBody>
      </p:sp>
      <p:sp>
        <p:nvSpPr>
          <p:cNvPr id="685" name="Shape 685"/>
          <p:cNvSpPr/>
          <p:nvPr/>
        </p:nvSpPr>
        <p:spPr>
          <a:xfrm>
            <a:off x="3952875" y="1811834"/>
            <a:ext cx="7639050" cy="477143"/>
          </a:xfrm>
          <a:prstGeom prst="rect">
            <a:avLst/>
          </a:prstGeom>
          <a:noFill/>
        </p:spPr>
        <p:txBody>
          <a:bodyPr anchor="t" wrap="square" tIns="133350" bIns="133350" lIns="190500" rIns="190500">
            <a:normAutofit/>
          </a:bodyPr>
          <a:lstStyle/>
          <a:p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FFFFFF"/>
                </a:solidFill>
                <a:latin typeface="Inter"/>
                <a:ea typeface="Inter"/>
              </a:rPr>
              <a:t>PILOT MEASURE</a:t>
            </a:r>
            <a:endParaRPr lang="en-US"/>
          </a:p>
        </p:txBody>
      </p:sp>
      <p:pic>
        <p:nvPicPr>
          <p:cNvPr id="182" name="Presenton Native Image 16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2288977"/>
            <a:ext cx="10953750" cy="581025"/>
          </a:xfrm>
          <a:prstGeom prst="rect">
            <a:avLst/>
          </a:prstGeom>
        </p:spPr>
      </p:pic>
      <p:sp>
        <p:nvSpPr>
          <p:cNvPr id="686" name="Shape 686"/>
          <p:cNvSpPr/>
          <p:nvPr/>
        </p:nvSpPr>
        <p:spPr>
          <a:xfrm>
            <a:off x="619125" y="2288977"/>
            <a:ext cx="33528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Faster approved access</a:t>
            </a:r>
            <a:endParaRPr lang="en-US"/>
          </a:p>
        </p:txBody>
      </p:sp>
      <p:sp>
        <p:nvSpPr>
          <p:cNvPr id="687" name="Shape 687"/>
          <p:cNvSpPr/>
          <p:nvPr/>
        </p:nvSpPr>
        <p:spPr>
          <a:xfrm>
            <a:off x="3952875" y="2288977"/>
            <a:ext cx="76390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Time to the first useful employee task</a:t>
            </a:r>
            <a:endParaRPr lang="en-US"/>
          </a:p>
        </p:txBody>
      </p:sp>
      <p:pic>
        <p:nvPicPr>
          <p:cNvPr id="183" name="Presenton Native Image 17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2870002"/>
            <a:ext cx="10953750" cy="581025"/>
          </a:xfrm>
          <a:prstGeom prst="rect">
            <a:avLst/>
          </a:prstGeom>
        </p:spPr>
      </p:pic>
      <p:sp>
        <p:nvSpPr>
          <p:cNvPr id="688" name="Shape 688"/>
          <p:cNvSpPr/>
          <p:nvPr/>
        </p:nvSpPr>
        <p:spPr>
          <a:xfrm>
            <a:off x="619125" y="2870002"/>
            <a:ext cx="33528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Lower platform burden</a:t>
            </a:r>
            <a:endParaRPr lang="en-US"/>
          </a:p>
        </p:txBody>
      </p:sp>
      <p:sp>
        <p:nvSpPr>
          <p:cNvPr id="689" name="Shape 689"/>
          <p:cNvSpPr/>
          <p:nvPr/>
        </p:nvSpPr>
        <p:spPr>
          <a:xfrm>
            <a:off x="3952875" y="2870002"/>
            <a:ext cx="76390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Setup and exception-handling hours</a:t>
            </a:r>
            <a:endParaRPr lang="en-US"/>
          </a:p>
        </p:txBody>
      </p:sp>
      <p:pic>
        <p:nvPicPr>
          <p:cNvPr id="184" name="Presenton Native Image 18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3451027"/>
            <a:ext cx="10953750" cy="581025"/>
          </a:xfrm>
          <a:prstGeom prst="rect">
            <a:avLst/>
          </a:prstGeom>
        </p:spPr>
      </p:pic>
      <p:sp>
        <p:nvSpPr>
          <p:cNvPr id="690" name="Shape 690"/>
          <p:cNvSpPr/>
          <p:nvPr/>
        </p:nvSpPr>
        <p:spPr>
          <a:xfrm>
            <a:off x="619125" y="3451027"/>
            <a:ext cx="33528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Controlled spending</a:t>
            </a:r>
            <a:endParaRPr lang="en-US"/>
          </a:p>
        </p:txBody>
      </p:sp>
      <p:sp>
        <p:nvSpPr>
          <p:cNvPr id="691" name="Shape 691"/>
          <p:cNvSpPr/>
          <p:nvPr/>
        </p:nvSpPr>
        <p:spPr>
          <a:xfrm>
            <a:off x="3952875" y="3451027"/>
            <a:ext cx="76390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Full cost per verified outcome, attributed to an owner</a:t>
            </a:r>
            <a:endParaRPr lang="en-US"/>
          </a:p>
        </p:txBody>
      </p:sp>
      <p:pic>
        <p:nvPicPr>
          <p:cNvPr id="185" name="Presenton Native Image 19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4032052"/>
            <a:ext cx="10953750" cy="581025"/>
          </a:xfrm>
          <a:prstGeom prst="rect">
            <a:avLst/>
          </a:prstGeom>
        </p:spPr>
      </p:pic>
      <p:sp>
        <p:nvSpPr>
          <p:cNvPr id="692" name="Shape 692"/>
          <p:cNvSpPr/>
          <p:nvPr/>
        </p:nvSpPr>
        <p:spPr>
          <a:xfrm>
            <a:off x="619125" y="4032052"/>
            <a:ext cx="33528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Reliable delivery</a:t>
            </a:r>
            <a:endParaRPr lang="en-US"/>
          </a:p>
        </p:txBody>
      </p:sp>
      <p:sp>
        <p:nvSpPr>
          <p:cNvPr id="693" name="Shape 693"/>
          <p:cNvSpPr/>
          <p:nvPr/>
        </p:nvSpPr>
        <p:spPr>
          <a:xfrm>
            <a:off x="3952875" y="4032052"/>
            <a:ext cx="76390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Review effort, rework, defects and stability</a:t>
            </a:r>
            <a:endParaRPr lang="en-US"/>
          </a:p>
        </p:txBody>
      </p:sp>
      <p:sp>
        <p:nvSpPr>
          <p:cNvPr id="694" name="Shape 694"/>
          <p:cNvSpPr/>
          <p:nvPr/>
        </p:nvSpPr>
        <p:spPr>
          <a:xfrm>
            <a:off x="609600" y="4803577"/>
            <a:ext cx="10991850" cy="2667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1647D8"/>
                </a:solidFill>
                <a:latin typeface="Inter"/>
                <a:ea typeface="Inter"/>
              </a:rPr>
              <a:t>Pass only when useful work improves without unacceptable security, quality or operating regressions.</a:t>
            </a:r>
            <a:endParaRPr lang="en-US"/>
          </a:p>
        </p:txBody>
      </p:sp>
      <p:pic>
        <p:nvPicPr>
          <p:cNvPr id="186" name="Presenton Native Image 2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695" name="Shape 695"/>
          <p:cNvSpPr/>
          <p:nvPr/>
        </p:nvSpPr>
        <p:spPr>
          <a:xfrm>
            <a:off x="609600" y="6438900"/>
            <a:ext cx="5924104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Local baseline and targets agreed with partner • No measured uplift claimed • Measurement rationale: R3, R5</a:t>
            </a:r>
            <a:endParaRPr lang="en-US"/>
          </a:p>
        </p:txBody>
      </p:sp>
      <p:sp>
        <p:nvSpPr>
          <p:cNvPr id="696" name="Shape 696"/>
          <p:cNvSpPr/>
          <p:nvPr/>
        </p:nvSpPr>
        <p:spPr>
          <a:xfrm>
            <a:off x="11233547" y="6438900"/>
            <a:ext cx="367903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10 / 21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698" name="Shape 698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699" name="Shape 699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MARKET HYPOTHESIS</a:t>
            </a:r>
            <a:endParaRPr lang="en-US"/>
          </a:p>
        </p:txBody>
      </p:sp>
      <p:sp>
        <p:nvSpPr>
          <p:cNvPr id="700" name="Shape 700"/>
          <p:cNvSpPr/>
          <p:nvPr/>
        </p:nvSpPr>
        <p:spPr>
          <a:xfrm>
            <a:off x="609600" y="1071563"/>
            <a:ext cx="10687050" cy="928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A focused entry market.</a:t>
            </a: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 xml:space="preserve">
</a:t>
            </a: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A transparent sizing model.</a:t>
            </a:r>
            <a:endParaRPr lang="en-US"/>
          </a:p>
        </p:txBody>
      </p:sp>
      <p:sp>
        <p:nvSpPr>
          <p:cNvPr id="701" name="Shape 701"/>
          <p:cNvSpPr/>
          <p:nvPr/>
        </p:nvSpPr>
        <p:spPr>
          <a:xfrm>
            <a:off x="609600" y="2266355"/>
            <a:ext cx="3333750" cy="2582168"/>
          </a:xfrm>
          <a:prstGeom prst="rect">
            <a:avLst/>
          </a:prstGeom>
          <a:solidFill>
            <a:srgbClr val="1647D8"/>
          </a:solidFill>
        </p:spPr>
        <p:txBody>
          <a:bodyPr/>
          <a:lstStyle/>
          <a:p/>
        </p:txBody>
      </p:sp>
      <p:sp>
        <p:nvSpPr>
          <p:cNvPr id="702" name="Shape 702"/>
          <p:cNvSpPr/>
          <p:nvPr/>
        </p:nvSpPr>
        <p:spPr>
          <a:xfrm>
            <a:off x="866775" y="2523530"/>
            <a:ext cx="28384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FFFFFF"/>
                </a:solidFill>
                <a:latin typeface="Inter"/>
                <a:ea typeface="Inter"/>
              </a:rPr>
              <a:t>EXAMPLE ACCOUNT VALUE</a:t>
            </a:r>
            <a:endParaRPr lang="en-US"/>
          </a:p>
        </p:txBody>
      </p:sp>
      <p:sp>
        <p:nvSpPr>
          <p:cNvPr id="703" name="Shape 703"/>
          <p:cNvSpPr/>
          <p:nvPr/>
        </p:nvSpPr>
        <p:spPr>
          <a:xfrm>
            <a:off x="866775" y="2895005"/>
            <a:ext cx="2838450" cy="9144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7200"/>
              </a:lnSpc>
              <a:buNone/>
            </a:pPr>
            <a:r>
              <a:rPr sz="4800" b="1" i="0" spc="0">
                <a:solidFill>
                  <a:srgbClr val="FFFFFF"/>
                </a:solidFill>
                <a:latin typeface="Sora"/>
                <a:ea typeface="Sora"/>
              </a:rPr>
              <a:t>$78k</a:t>
            </a:r>
            <a:endParaRPr lang="en-US"/>
          </a:p>
        </p:txBody>
      </p:sp>
      <p:sp>
        <p:nvSpPr>
          <p:cNvPr id="704" name="Shape 704"/>
          <p:cNvSpPr/>
          <p:nvPr/>
        </p:nvSpPr>
        <p:spPr>
          <a:xfrm>
            <a:off x="866775" y="3866555"/>
            <a:ext cx="2838450" cy="6572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588"/>
              </a:lnSpc>
              <a:buNone/>
            </a:pP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Annual software contract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 xml:space="preserve">
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at 200 active users</a:t>
            </a:r>
            <a:endParaRPr lang="en-US"/>
          </a:p>
        </p:txBody>
      </p:sp>
      <p:sp>
        <p:nvSpPr>
          <p:cNvPr id="705" name="Shape 705"/>
          <p:cNvSpPr/>
          <p:nvPr/>
        </p:nvSpPr>
        <p:spPr>
          <a:xfrm>
            <a:off x="4181475" y="2266355"/>
            <a:ext cx="741997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Inter"/>
                <a:ea typeface="Inter"/>
              </a:rPr>
              <a:t>UNVALIDATED OPPORTUNITY SCENARIOS</a:t>
            </a:r>
            <a:endParaRPr lang="en-US"/>
          </a:p>
        </p:txBody>
      </p:sp>
      <p:sp>
        <p:nvSpPr>
          <p:cNvPr id="706" name="Shape 706"/>
          <p:cNvSpPr/>
          <p:nvPr/>
        </p:nvSpPr>
        <p:spPr>
          <a:xfrm>
            <a:off x="4181475" y="2733080"/>
            <a:ext cx="7400925" cy="1658243"/>
          </a:xfrm>
          <a:prstGeom prst="rect">
            <a:avLst/>
          </a:prstGeom>
          <a:noFill/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07" name="Shape 707"/>
          <p:cNvSpPr/>
          <p:nvPr/>
        </p:nvSpPr>
        <p:spPr>
          <a:xfrm>
            <a:off x="4191000" y="2742605"/>
            <a:ext cx="7381875" cy="477143"/>
          </a:xfrm>
          <a:prstGeom prst="rect">
            <a:avLst/>
          </a:prstGeom>
          <a:solidFill>
            <a:srgbClr val="1647D8"/>
          </a:solidFill>
        </p:spPr>
        <p:txBody>
          <a:bodyPr/>
          <a:lstStyle/>
          <a:p/>
        </p:txBody>
      </p:sp>
      <p:sp>
        <p:nvSpPr>
          <p:cNvPr id="708" name="Shape 708"/>
          <p:cNvSpPr/>
          <p:nvPr/>
        </p:nvSpPr>
        <p:spPr>
          <a:xfrm>
            <a:off x="4191000" y="2742605"/>
            <a:ext cx="3543300" cy="477143"/>
          </a:xfrm>
          <a:prstGeom prst="rect">
            <a:avLst/>
          </a:prstGeom>
          <a:noFill/>
        </p:spPr>
        <p:txBody>
          <a:bodyPr anchor="t" wrap="square" tIns="133350" bIns="133350" lIns="190500" rIns="190500">
            <a:normAutofit/>
          </a:bodyPr>
          <a:lstStyle/>
          <a:p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FFFFFF"/>
                </a:solidFill>
                <a:latin typeface="Inter"/>
                <a:ea typeface="Inter"/>
              </a:rPr>
              <a:t>ASSUMED ORGANIZATIONS</a:t>
            </a:r>
            <a:endParaRPr lang="en-US"/>
          </a:p>
        </p:txBody>
      </p:sp>
      <p:sp>
        <p:nvSpPr>
          <p:cNvPr id="709" name="Shape 709"/>
          <p:cNvSpPr/>
          <p:nvPr/>
        </p:nvSpPr>
        <p:spPr>
          <a:xfrm>
            <a:off x="7715250" y="2742605"/>
            <a:ext cx="3590925" cy="477143"/>
          </a:xfrm>
          <a:prstGeom prst="rect">
            <a:avLst/>
          </a:prstGeom>
          <a:noFill/>
        </p:spPr>
        <p:txBody>
          <a:bodyPr anchor="t" wrap="square" tIns="133350" bIns="133350" lIns="190500" rIns="190500">
            <a:normAutofit/>
          </a:bodyPr>
          <a:lstStyle/>
          <a:p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FFFFFF"/>
                </a:solidFill>
                <a:latin typeface="Inter"/>
                <a:ea typeface="Inter"/>
              </a:rPr>
              <a:t>AT $78K / YEAR</a:t>
            </a:r>
            <a:endParaRPr lang="en-US"/>
          </a:p>
        </p:txBody>
      </p:sp>
      <p:pic>
        <p:nvPicPr>
          <p:cNvPr id="187" name="Presenton Native Image 21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4191000" y="3219748"/>
            <a:ext cx="7381875" cy="581025"/>
          </a:xfrm>
          <a:prstGeom prst="rect">
            <a:avLst/>
          </a:prstGeom>
        </p:spPr>
      </p:pic>
      <p:sp>
        <p:nvSpPr>
          <p:cNvPr id="710" name="Shape 710"/>
          <p:cNvSpPr/>
          <p:nvPr/>
        </p:nvSpPr>
        <p:spPr>
          <a:xfrm>
            <a:off x="4191000" y="3219748"/>
            <a:ext cx="3543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5,000</a:t>
            </a:r>
            <a:endParaRPr lang="en-US"/>
          </a:p>
        </p:txBody>
      </p:sp>
      <p:sp>
        <p:nvSpPr>
          <p:cNvPr id="711" name="Shape 711"/>
          <p:cNvSpPr/>
          <p:nvPr/>
        </p:nvSpPr>
        <p:spPr>
          <a:xfrm>
            <a:off x="7715250" y="3219748"/>
            <a:ext cx="3590925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$390m</a:t>
            </a:r>
            <a:endParaRPr lang="en-US"/>
          </a:p>
        </p:txBody>
      </p:sp>
      <p:pic>
        <p:nvPicPr>
          <p:cNvPr id="188" name="Presenton Native Image 22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4191000" y="3800773"/>
            <a:ext cx="7381875" cy="581025"/>
          </a:xfrm>
          <a:prstGeom prst="rect">
            <a:avLst/>
          </a:prstGeom>
        </p:spPr>
      </p:pic>
      <p:sp>
        <p:nvSpPr>
          <p:cNvPr id="712" name="Shape 712"/>
          <p:cNvSpPr/>
          <p:nvPr/>
        </p:nvSpPr>
        <p:spPr>
          <a:xfrm>
            <a:off x="4191000" y="3800773"/>
            <a:ext cx="3543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50,000</a:t>
            </a:r>
            <a:endParaRPr lang="en-US"/>
          </a:p>
        </p:txBody>
      </p:sp>
      <p:sp>
        <p:nvSpPr>
          <p:cNvPr id="713" name="Shape 713"/>
          <p:cNvSpPr/>
          <p:nvPr/>
        </p:nvSpPr>
        <p:spPr>
          <a:xfrm>
            <a:off x="7715250" y="3800773"/>
            <a:ext cx="3590925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$3.9bn</a:t>
            </a:r>
            <a:endParaRPr lang="en-US"/>
          </a:p>
        </p:txBody>
      </p:sp>
      <p:sp>
        <p:nvSpPr>
          <p:cNvPr id="714" name="Shape 714"/>
          <p:cNvSpPr/>
          <p:nvPr/>
        </p:nvSpPr>
        <p:spPr>
          <a:xfrm>
            <a:off x="4181475" y="4562773"/>
            <a:ext cx="74199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 xml:space="preserve">10 paid customers would equal </a:t>
            </a:r>
            <a:r>
              <a:rPr sz="1500" b="1" i="0">
                <a:solidFill>
                  <a:srgbClr val="344054"/>
                </a:solidFill>
                <a:latin typeface="Inter"/>
                <a:ea typeface="Inter"/>
              </a:rPr>
              <a:t>$780k ARR</a:t>
            </a: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 xml:space="preserve"> at this contract value.</a:t>
            </a:r>
            <a:endParaRPr lang="en-US"/>
          </a:p>
        </p:txBody>
      </p:sp>
      <p:pic>
        <p:nvPicPr>
          <p:cNvPr id="189" name="Presenton Native Image 2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715" name="Shape 715"/>
          <p:cNvSpPr/>
          <p:nvPr/>
        </p:nvSpPr>
        <p:spPr>
          <a:xfrm>
            <a:off x="609600" y="6438900"/>
            <a:ext cx="716577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Arithmetic only • Not researched TAM/SAM, forecast, contracted revenue or validated account counts • Validate before external use</a:t>
            </a:r>
            <a:endParaRPr lang="en-US"/>
          </a:p>
        </p:txBody>
      </p:sp>
      <p:sp>
        <p:nvSpPr>
          <p:cNvPr id="716" name="Shape 716"/>
          <p:cNvSpPr/>
          <p:nvPr/>
        </p:nvSpPr>
        <p:spPr>
          <a:xfrm>
            <a:off x="11271498" y="6438900"/>
            <a:ext cx="329952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11 / 21</a:t>
            </a: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717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718" name="Shape 718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719" name="Shape 719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COMPETITION</a:t>
            </a:r>
            <a:endParaRPr lang="en-US"/>
          </a:p>
        </p:txBody>
      </p:sp>
      <p:sp>
        <p:nvSpPr>
          <p:cNvPr id="720" name="Shape 720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Close competitors exist. Win on the experience.</a:t>
            </a:r>
            <a:endParaRPr lang="en-US"/>
          </a:p>
        </p:txBody>
      </p:sp>
      <p:sp>
        <p:nvSpPr>
          <p:cNvPr id="721" name="Shape 721"/>
          <p:cNvSpPr/>
          <p:nvPr/>
        </p:nvSpPr>
        <p:spPr>
          <a:xfrm>
            <a:off x="609600" y="1802309"/>
            <a:ext cx="10972800" cy="3401318"/>
          </a:xfrm>
          <a:prstGeom prst="rect">
            <a:avLst/>
          </a:prstGeom>
          <a:noFill/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22" name="Shape 722"/>
          <p:cNvSpPr/>
          <p:nvPr/>
        </p:nvSpPr>
        <p:spPr>
          <a:xfrm>
            <a:off x="619125" y="1811834"/>
            <a:ext cx="10953750" cy="477143"/>
          </a:xfrm>
          <a:prstGeom prst="rect">
            <a:avLst/>
          </a:prstGeom>
          <a:solidFill>
            <a:srgbClr val="1647D8"/>
          </a:solidFill>
        </p:spPr>
        <p:txBody>
          <a:bodyPr/>
          <a:lstStyle/>
          <a:p/>
        </p:txBody>
      </p:sp>
      <p:sp>
        <p:nvSpPr>
          <p:cNvPr id="723" name="Shape 723"/>
          <p:cNvSpPr/>
          <p:nvPr/>
        </p:nvSpPr>
        <p:spPr>
          <a:xfrm>
            <a:off x="619125" y="1811834"/>
            <a:ext cx="2876550" cy="477143"/>
          </a:xfrm>
          <a:prstGeom prst="rect">
            <a:avLst/>
          </a:prstGeom>
          <a:noFill/>
        </p:spPr>
        <p:txBody>
          <a:bodyPr anchor="t" wrap="square" tIns="133350" bIns="133350" lIns="190500" rIns="190500">
            <a:normAutofit/>
          </a:bodyPr>
          <a:lstStyle/>
          <a:p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FFFFFF"/>
                </a:solidFill>
                <a:latin typeface="Inter"/>
                <a:ea typeface="Inter"/>
              </a:rPr>
              <a:t>ALTERNATIVE</a:t>
            </a:r>
            <a:endParaRPr lang="en-US"/>
          </a:p>
        </p:txBody>
      </p:sp>
      <p:sp>
        <p:nvSpPr>
          <p:cNvPr id="724" name="Shape 724"/>
          <p:cNvSpPr/>
          <p:nvPr/>
        </p:nvSpPr>
        <p:spPr>
          <a:xfrm>
            <a:off x="3476625" y="1811834"/>
            <a:ext cx="8115300" cy="477143"/>
          </a:xfrm>
          <a:prstGeom prst="rect">
            <a:avLst/>
          </a:prstGeom>
          <a:noFill/>
        </p:spPr>
        <p:txBody>
          <a:bodyPr anchor="t" wrap="square" tIns="133350" bIns="133350" lIns="190500" rIns="190500">
            <a:normAutofit/>
          </a:bodyPr>
          <a:lstStyle/>
          <a:p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FFFFFF"/>
                </a:solidFill>
                <a:latin typeface="Inter"/>
                <a:ea typeface="Inter"/>
              </a:rPr>
              <a:t>DOCUMENTED CENTER OF GRAVITY</a:t>
            </a:r>
            <a:endParaRPr lang="en-US"/>
          </a:p>
        </p:txBody>
      </p:sp>
      <p:pic>
        <p:nvPicPr>
          <p:cNvPr id="190" name="Presenton Native Image 24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2288977"/>
            <a:ext cx="10953750" cy="581025"/>
          </a:xfrm>
          <a:prstGeom prst="rect">
            <a:avLst/>
          </a:prstGeom>
        </p:spPr>
      </p:pic>
      <p:sp>
        <p:nvSpPr>
          <p:cNvPr id="725" name="Shape 725"/>
          <p:cNvSpPr/>
          <p:nvPr/>
        </p:nvSpPr>
        <p:spPr>
          <a:xfrm>
            <a:off x="619125" y="2288977"/>
            <a:ext cx="2876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Coder</a:t>
            </a:r>
            <a:endParaRPr lang="en-US"/>
          </a:p>
        </p:txBody>
      </p:sp>
      <p:sp>
        <p:nvSpPr>
          <p:cNvPr id="726" name="Shape 726"/>
          <p:cNvSpPr/>
          <p:nvPr/>
        </p:nvSpPr>
        <p:spPr>
          <a:xfrm>
            <a:off x="3476625" y="2288977"/>
            <a:ext cx="8115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Development environments, agents and AI governance</a:t>
            </a:r>
            <a:endParaRPr lang="en-US"/>
          </a:p>
        </p:txBody>
      </p:sp>
      <p:pic>
        <p:nvPicPr>
          <p:cNvPr id="191" name="Presenton Native Image 25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2870002"/>
            <a:ext cx="10953750" cy="581025"/>
          </a:xfrm>
          <a:prstGeom prst="rect">
            <a:avLst/>
          </a:prstGeom>
        </p:spPr>
      </p:pic>
      <p:sp>
        <p:nvSpPr>
          <p:cNvPr id="727" name="Shape 727"/>
          <p:cNvSpPr/>
          <p:nvPr/>
        </p:nvSpPr>
        <p:spPr>
          <a:xfrm>
            <a:off x="619125" y="2870002"/>
            <a:ext cx="2876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Agyn</a:t>
            </a:r>
            <a:endParaRPr lang="en-US"/>
          </a:p>
        </p:txBody>
      </p:sp>
      <p:sp>
        <p:nvSpPr>
          <p:cNvPr id="728" name="Shape 728"/>
          <p:cNvSpPr/>
          <p:nvPr/>
        </p:nvSpPr>
        <p:spPr>
          <a:xfrm>
            <a:off x="3476625" y="2870002"/>
            <a:ext cx="8115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Company console for providers, agents, skills and execution</a:t>
            </a:r>
            <a:endParaRPr lang="en-US"/>
          </a:p>
        </p:txBody>
      </p:sp>
      <p:pic>
        <p:nvPicPr>
          <p:cNvPr id="192" name="Presenton Native Image 26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3451027"/>
            <a:ext cx="10953750" cy="581025"/>
          </a:xfrm>
          <a:prstGeom prst="rect">
            <a:avLst/>
          </a:prstGeom>
        </p:spPr>
      </p:pic>
      <p:sp>
        <p:nvSpPr>
          <p:cNvPr id="729" name="Shape 729"/>
          <p:cNvSpPr/>
          <p:nvPr/>
        </p:nvSpPr>
        <p:spPr>
          <a:xfrm>
            <a:off x="619125" y="3451027"/>
            <a:ext cx="2876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Preloop</a:t>
            </a:r>
            <a:endParaRPr lang="en-US"/>
          </a:p>
        </p:txBody>
      </p:sp>
      <p:sp>
        <p:nvSpPr>
          <p:cNvPr id="730" name="Shape 730"/>
          <p:cNvSpPr/>
          <p:nvPr/>
        </p:nvSpPr>
        <p:spPr>
          <a:xfrm>
            <a:off x="3476625" y="3451027"/>
            <a:ext cx="8115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Model/tool policies, approvals and run control</a:t>
            </a:r>
            <a:endParaRPr lang="en-US"/>
          </a:p>
        </p:txBody>
      </p:sp>
      <p:pic>
        <p:nvPicPr>
          <p:cNvPr id="193" name="Presenton Native Image 27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4032052"/>
            <a:ext cx="10953750" cy="581025"/>
          </a:xfrm>
          <a:prstGeom prst="rect">
            <a:avLst/>
          </a:prstGeom>
        </p:spPr>
      </p:pic>
      <p:sp>
        <p:nvSpPr>
          <p:cNvPr id="731" name="Shape 731"/>
          <p:cNvSpPr/>
          <p:nvPr/>
        </p:nvSpPr>
        <p:spPr>
          <a:xfrm>
            <a:off x="619125" y="4032052"/>
            <a:ext cx="2876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OpenHands Enterprise</a:t>
            </a:r>
            <a:endParaRPr lang="en-US"/>
          </a:p>
        </p:txBody>
      </p:sp>
      <p:sp>
        <p:nvSpPr>
          <p:cNvPr id="732" name="Shape 732"/>
          <p:cNvSpPr/>
          <p:nvPr/>
        </p:nvSpPr>
        <p:spPr>
          <a:xfrm>
            <a:off x="3476625" y="4032052"/>
            <a:ext cx="8115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Enterprise software-agent execution</a:t>
            </a:r>
            <a:endParaRPr lang="en-US"/>
          </a:p>
        </p:txBody>
      </p:sp>
      <p:pic>
        <p:nvPicPr>
          <p:cNvPr id="194" name="Presenton Native Image 28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4613077"/>
            <a:ext cx="10953750" cy="581025"/>
          </a:xfrm>
          <a:prstGeom prst="rect">
            <a:avLst/>
          </a:prstGeom>
        </p:spPr>
      </p:pic>
      <p:sp>
        <p:nvSpPr>
          <p:cNvPr id="733" name="Shape 733"/>
          <p:cNvSpPr/>
          <p:nvPr/>
        </p:nvSpPr>
        <p:spPr>
          <a:xfrm>
            <a:off x="619125" y="4613077"/>
            <a:ext cx="2876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Internal assembly</a:t>
            </a:r>
            <a:endParaRPr lang="en-US"/>
          </a:p>
        </p:txBody>
      </p:sp>
      <p:sp>
        <p:nvSpPr>
          <p:cNvPr id="734" name="Shape 734"/>
          <p:cNvSpPr/>
          <p:nvPr/>
        </p:nvSpPr>
        <p:spPr>
          <a:xfrm>
            <a:off x="3476625" y="4613077"/>
            <a:ext cx="8115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Workspaces, gateway, identity and security tooling</a:t>
            </a:r>
            <a:endParaRPr lang="en-US"/>
          </a:p>
        </p:txBody>
      </p:sp>
      <p:sp>
        <p:nvSpPr>
          <p:cNvPr id="735" name="Shape 735"/>
          <p:cNvSpPr/>
          <p:nvPr/>
        </p:nvSpPr>
        <p:spPr>
          <a:xfrm>
            <a:off x="609600" y="5356027"/>
            <a:ext cx="10991850" cy="2571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025"/>
              </a:lnSpc>
              <a:buNone/>
            </a:pPr>
            <a:r>
              <a:rPr sz="1500" b="0" i="0">
                <a:solidFill>
                  <a:srgbClr val="1647D8"/>
                </a:solidFill>
                <a:latin typeface="Inter"/>
                <a:ea typeface="Inter"/>
              </a:rPr>
              <a:t>Our hypothesis: one effective work profile, less integration burden, and a coherent launch-to-revocation workflow.</a:t>
            </a:r>
            <a:endParaRPr lang="en-US"/>
          </a:p>
        </p:txBody>
      </p:sp>
      <p:pic>
        <p:nvPicPr>
          <p:cNvPr id="195" name="Presenton Native Image 2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736" name="Shape 736"/>
          <p:cNvSpPr/>
          <p:nvPr/>
        </p:nvSpPr>
        <p:spPr>
          <a:xfrm>
            <a:off x="609600" y="6438900"/>
            <a:ext cx="6520160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R6–R9 • Editions differ • Hands-on comparison required • No assertion that competitors cannot provide these outcomes</a:t>
            </a:r>
            <a:endParaRPr lang="en-US"/>
          </a:p>
        </p:txBody>
      </p:sp>
      <p:sp>
        <p:nvSpPr>
          <p:cNvPr id="737" name="Shape 737"/>
          <p:cNvSpPr/>
          <p:nvPr/>
        </p:nvSpPr>
        <p:spPr>
          <a:xfrm>
            <a:off x="11248281" y="6438900"/>
            <a:ext cx="353169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12 / 21</a:t>
            </a:r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738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739" name="Shape 739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740" name="Shape 740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BUSINESS MODEL</a:t>
            </a:r>
            <a:endParaRPr lang="en-US"/>
          </a:p>
        </p:txBody>
      </p:sp>
      <p:sp>
        <p:nvSpPr>
          <p:cNvPr id="741" name="Shape 741"/>
          <p:cNvSpPr/>
          <p:nvPr/>
        </p:nvSpPr>
        <p:spPr>
          <a:xfrm>
            <a:off x="609600" y="1071563"/>
            <a:ext cx="10687050" cy="92809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Subscription software.</a:t>
            </a: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 xml:space="preserve">
</a:t>
            </a: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Customer-controlled services.</a:t>
            </a:r>
            <a:endParaRPr lang="en-US"/>
          </a:p>
        </p:txBody>
      </p:sp>
      <p:sp>
        <p:nvSpPr>
          <p:cNvPr id="742" name="Shape 742"/>
          <p:cNvSpPr/>
          <p:nvPr/>
        </p:nvSpPr>
        <p:spPr>
          <a:xfrm>
            <a:off x="609600" y="2266355"/>
            <a:ext cx="6762750" cy="2867025"/>
          </a:xfrm>
          <a:prstGeom prst="rect">
            <a:avLst/>
          </a:prstGeom>
          <a:solidFill>
            <a:srgbClr val="1647D8"/>
          </a:solidFill>
        </p:spPr>
        <p:txBody>
          <a:bodyPr/>
          <a:lstStyle/>
          <a:p/>
        </p:txBody>
      </p:sp>
      <p:sp>
        <p:nvSpPr>
          <p:cNvPr id="743" name="Shape 743"/>
          <p:cNvSpPr/>
          <p:nvPr/>
        </p:nvSpPr>
        <p:spPr>
          <a:xfrm>
            <a:off x="876300" y="2533055"/>
            <a:ext cx="624840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FFFFFF"/>
                </a:solidFill>
                <a:latin typeface="Inter"/>
                <a:ea typeface="Inter"/>
              </a:rPr>
              <a:t>PROPOSED ANNUAL PRICING</a:t>
            </a:r>
            <a:endParaRPr lang="en-US"/>
          </a:p>
        </p:txBody>
      </p:sp>
      <p:sp>
        <p:nvSpPr>
          <p:cNvPr id="744" name="Shape 744"/>
          <p:cNvSpPr/>
          <p:nvPr/>
        </p:nvSpPr>
        <p:spPr>
          <a:xfrm>
            <a:off x="876300" y="2923580"/>
            <a:ext cx="6248400" cy="5857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4613"/>
              </a:lnSpc>
              <a:buNone/>
            </a:pPr>
            <a:r>
              <a:rPr sz="3075" b="1" i="0">
                <a:solidFill>
                  <a:srgbClr val="FFFFFF"/>
                </a:solidFill>
                <a:latin typeface="Sora"/>
                <a:ea typeface="Sora"/>
              </a:rPr>
              <a:t>$18k + $25 / active user / month</a:t>
            </a:r>
            <a:endParaRPr lang="en-US"/>
          </a:p>
        </p:txBody>
      </p:sp>
      <p:sp>
        <p:nvSpPr>
          <p:cNvPr id="745" name="Shape 745"/>
          <p:cNvSpPr/>
          <p:nvPr/>
        </p:nvSpPr>
        <p:spPr>
          <a:xfrm>
            <a:off x="876300" y="3680817"/>
            <a:ext cx="6248400" cy="3143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75"/>
              </a:lnSpc>
              <a:buNone/>
            </a:pPr>
            <a:r>
              <a:rPr sz="1650" b="0" i="0">
                <a:solidFill>
                  <a:srgbClr val="DCE8FF"/>
                </a:solidFill>
                <a:latin typeface="Inter"/>
                <a:ea typeface="Inter"/>
              </a:rPr>
              <a:t>200 users × $25 × 12 + $18k</a:t>
            </a:r>
            <a:endParaRPr lang="en-US"/>
          </a:p>
        </p:txBody>
      </p:sp>
      <p:sp>
        <p:nvSpPr>
          <p:cNvPr id="746" name="Shape 746"/>
          <p:cNvSpPr/>
          <p:nvPr/>
        </p:nvSpPr>
        <p:spPr>
          <a:xfrm>
            <a:off x="876300" y="4109442"/>
            <a:ext cx="6248400" cy="7572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5963"/>
              </a:lnSpc>
              <a:buNone/>
            </a:pPr>
            <a:r>
              <a:rPr sz="3975" b="1" i="0">
                <a:solidFill>
                  <a:srgbClr val="FFFFFF"/>
                </a:solidFill>
                <a:latin typeface="Sora"/>
                <a:ea typeface="Sora"/>
              </a:rPr>
              <a:t>$78k ARR</a:t>
            </a:r>
            <a:endParaRPr lang="en-US"/>
          </a:p>
        </p:txBody>
      </p:sp>
      <p:sp>
        <p:nvSpPr>
          <p:cNvPr id="747" name="Shape 747"/>
          <p:cNvSpPr/>
          <p:nvPr/>
        </p:nvSpPr>
        <p:spPr>
          <a:xfrm>
            <a:off x="7610475" y="2266355"/>
            <a:ext cx="3971925" cy="2867025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48" name="Shape 748"/>
          <p:cNvSpPr/>
          <p:nvPr/>
        </p:nvSpPr>
        <p:spPr>
          <a:xfrm>
            <a:off x="7867650" y="2523530"/>
            <a:ext cx="3476625" cy="3429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00"/>
              </a:lnSpc>
              <a:buNone/>
            </a:pPr>
            <a:r>
              <a:rPr sz="1800" b="1" i="0">
                <a:solidFill>
                  <a:srgbClr val="182230"/>
                </a:solidFill>
                <a:latin typeface="Sora"/>
                <a:ea typeface="Sora"/>
              </a:rPr>
              <a:t>Paid pilot</a:t>
            </a:r>
            <a:endParaRPr lang="en-US"/>
          </a:p>
        </p:txBody>
      </p:sp>
      <p:sp>
        <p:nvSpPr>
          <p:cNvPr id="749" name="Shape 749"/>
          <p:cNvSpPr/>
          <p:nvPr/>
        </p:nvSpPr>
        <p:spPr>
          <a:xfrm>
            <a:off x="7867650" y="2980730"/>
            <a:ext cx="3476625" cy="3714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925"/>
              </a:lnSpc>
              <a:buNone/>
            </a:pPr>
            <a:r>
              <a:rPr sz="1950" b="1" i="0">
                <a:solidFill>
                  <a:srgbClr val="1647D8"/>
                </a:solidFill>
                <a:latin typeface="Inter"/>
                <a:ea typeface="Inter"/>
              </a:rPr>
              <a:t>$10k / eight weeks</a:t>
            </a:r>
            <a:endParaRPr lang="en-US"/>
          </a:p>
        </p:txBody>
      </p:sp>
      <p:sp>
        <p:nvSpPr>
          <p:cNvPr id="750" name="Shape 750"/>
          <p:cNvSpPr/>
          <p:nvPr/>
        </p:nvSpPr>
        <p:spPr>
          <a:xfrm>
            <a:off x="7867650" y="3466505"/>
            <a:ext cx="3476625" cy="5334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sz="1500" b="0" i="0">
                <a:solidFill>
                  <a:srgbClr val="667085"/>
                </a:solidFill>
                <a:latin typeface="Inter"/>
                <a:ea typeface="Inter"/>
              </a:rPr>
              <a:t>Credited toward the first annual agreement upon conversion.</a:t>
            </a:r>
            <a:endParaRPr lang="en-US"/>
          </a:p>
        </p:txBody>
      </p:sp>
      <p:sp>
        <p:nvSpPr>
          <p:cNvPr id="751" name="Shape 751"/>
          <p:cNvSpPr/>
          <p:nvPr/>
        </p:nvSpPr>
        <p:spPr>
          <a:xfrm>
            <a:off x="7867650" y="4190405"/>
            <a:ext cx="3476625" cy="47982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90"/>
              </a:lnSpc>
              <a:buNone/>
            </a:pPr>
            <a:r>
              <a:rPr sz="1350" b="0" i="0">
                <a:solidFill>
                  <a:srgbClr val="667085"/>
                </a:solidFill>
                <a:latin typeface="Inter"/>
                <a:ea typeface="Inter"/>
              </a:rPr>
              <a:t>Inference, infrastructure and third-party services paid separately.</a:t>
            </a:r>
            <a:endParaRPr lang="en-US"/>
          </a:p>
        </p:txBody>
      </p:sp>
      <p:pic>
        <p:nvPicPr>
          <p:cNvPr id="196" name="Presenton Native Image 3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752" name="Shape 752"/>
          <p:cNvSpPr/>
          <p:nvPr/>
        </p:nvSpPr>
        <p:spPr>
          <a:xfrm>
            <a:off x="609600" y="6438900"/>
            <a:ext cx="7238851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Illustrative USD pricing, not a quote • Validate willingness to pay, support costs and margin • ARR excludes pilots/pass-through usage</a:t>
            </a:r>
            <a:endParaRPr lang="en-US"/>
          </a:p>
        </p:txBody>
      </p:sp>
      <p:sp>
        <p:nvSpPr>
          <p:cNvPr id="753" name="Shape 753"/>
          <p:cNvSpPr/>
          <p:nvPr/>
        </p:nvSpPr>
        <p:spPr>
          <a:xfrm>
            <a:off x="11248430" y="6438900"/>
            <a:ext cx="353020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13 / 21</a:t>
            </a: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Shape 754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755" name="Shape 755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756" name="Shape 756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GO TO MARKET</a:t>
            </a:r>
            <a:endParaRPr lang="en-US"/>
          </a:p>
        </p:txBody>
      </p:sp>
      <p:sp>
        <p:nvSpPr>
          <p:cNvPr id="757" name="Shape 757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Land with one bounded workflow.</a:t>
            </a:r>
            <a:endParaRPr lang="en-US"/>
          </a:p>
        </p:txBody>
      </p:sp>
      <p:sp>
        <p:nvSpPr>
          <p:cNvPr id="758" name="Shape 758"/>
          <p:cNvSpPr/>
          <p:nvPr/>
        </p:nvSpPr>
        <p:spPr>
          <a:xfrm>
            <a:off x="609600" y="1840409"/>
            <a:ext cx="3530501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59" name="Shape 759"/>
          <p:cNvSpPr/>
          <p:nvPr/>
        </p:nvSpPr>
        <p:spPr>
          <a:xfrm>
            <a:off x="86677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1 / RECRUIT</a:t>
            </a:r>
            <a:endParaRPr lang="en-US"/>
          </a:p>
        </p:txBody>
      </p:sp>
      <p:sp>
        <p:nvSpPr>
          <p:cNvPr id="760" name="Shape 760"/>
          <p:cNvSpPr/>
          <p:nvPr/>
        </p:nvSpPr>
        <p:spPr>
          <a:xfrm>
            <a:off x="866775" y="2450009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Design partners</a:t>
            </a:r>
            <a:endParaRPr lang="en-US"/>
          </a:p>
        </p:txBody>
      </p:sp>
      <p:sp>
        <p:nvSpPr>
          <p:cNvPr id="761" name="Shape 761"/>
          <p:cNvSpPr/>
          <p:nvPr/>
        </p:nvSpPr>
        <p:spPr>
          <a:xfrm>
            <a:off x="866775" y="2910929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Target three partners through platform and security relationships.</a:t>
            </a:r>
            <a:endParaRPr lang="en-US"/>
          </a:p>
        </p:txBody>
      </p:sp>
      <p:sp>
        <p:nvSpPr>
          <p:cNvPr id="762" name="Shape 762"/>
          <p:cNvSpPr/>
          <p:nvPr/>
        </p:nvSpPr>
        <p:spPr>
          <a:xfrm>
            <a:off x="4330601" y="1840409"/>
            <a:ext cx="3530650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63" name="Shape 763"/>
          <p:cNvSpPr/>
          <p:nvPr/>
        </p:nvSpPr>
        <p:spPr>
          <a:xfrm>
            <a:off x="4587776" y="2097584"/>
            <a:ext cx="30353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2 / PILOT</a:t>
            </a:r>
            <a:endParaRPr lang="en-US"/>
          </a:p>
        </p:txBody>
      </p:sp>
      <p:sp>
        <p:nvSpPr>
          <p:cNvPr id="764" name="Shape 764"/>
          <p:cNvSpPr/>
          <p:nvPr/>
        </p:nvSpPr>
        <p:spPr>
          <a:xfrm>
            <a:off x="4587776" y="2450009"/>
            <a:ext cx="3035350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20–50 users</a:t>
            </a:r>
            <a:endParaRPr lang="en-US"/>
          </a:p>
        </p:txBody>
      </p:sp>
      <p:sp>
        <p:nvSpPr>
          <p:cNvPr id="765" name="Shape 765"/>
          <p:cNvSpPr/>
          <p:nvPr/>
        </p:nvSpPr>
        <p:spPr>
          <a:xfrm>
            <a:off x="4587776" y="2910929"/>
            <a:ext cx="3035350" cy="121503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One group, one environment/agent combination, defined data paths.</a:t>
            </a:r>
            <a:endParaRPr lang="en-US"/>
          </a:p>
        </p:txBody>
      </p:sp>
      <p:sp>
        <p:nvSpPr>
          <p:cNvPr id="766" name="Shape 766"/>
          <p:cNvSpPr/>
          <p:nvPr/>
        </p:nvSpPr>
        <p:spPr>
          <a:xfrm>
            <a:off x="8051750" y="1840409"/>
            <a:ext cx="3530501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67" name="Shape 767"/>
          <p:cNvSpPr/>
          <p:nvPr/>
        </p:nvSpPr>
        <p:spPr>
          <a:xfrm>
            <a:off x="830892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3 / CONVERT</a:t>
            </a:r>
            <a:endParaRPr lang="en-US"/>
          </a:p>
        </p:txBody>
      </p:sp>
      <p:sp>
        <p:nvSpPr>
          <p:cNvPr id="768" name="Shape 768"/>
          <p:cNvSpPr/>
          <p:nvPr/>
        </p:nvSpPr>
        <p:spPr>
          <a:xfrm>
            <a:off x="8308925" y="2450009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Annual agreement</a:t>
            </a:r>
            <a:endParaRPr lang="en-US"/>
          </a:p>
        </p:txBody>
      </p:sp>
      <p:sp>
        <p:nvSpPr>
          <p:cNvPr id="769" name="Shape 769"/>
          <p:cNvSpPr/>
          <p:nvPr/>
        </p:nvSpPr>
        <p:spPr>
          <a:xfrm>
            <a:off x="8308925" y="2910929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Expand after agreed value, security and operating criteria pass.</a:t>
            </a:r>
            <a:endParaRPr lang="en-US"/>
          </a:p>
        </p:txBody>
      </p:sp>
      <p:pic>
        <p:nvPicPr>
          <p:cNvPr id="197" name="Presenton Native Image 3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4611737"/>
            <a:ext cx="10972800" cy="606623"/>
          </a:xfrm>
          <a:prstGeom prst="rect">
            <a:avLst/>
          </a:prstGeom>
        </p:spPr>
      </p:pic>
      <p:sp>
        <p:nvSpPr>
          <p:cNvPr id="770" name="Shape 770"/>
          <p:cNvSpPr/>
          <p:nvPr/>
        </p:nvSpPr>
        <p:spPr>
          <a:xfrm>
            <a:off x="609600" y="4611737"/>
            <a:ext cx="10991850" cy="606623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Expand by engineering group and qualified workload, backed by customer outcome evidence.</a:t>
            </a:r>
            <a:endParaRPr lang="en-US"/>
          </a:p>
        </p:txBody>
      </p:sp>
      <p:pic>
        <p:nvPicPr>
          <p:cNvPr id="198" name="Presenton Native Image 32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771" name="Shape 771"/>
          <p:cNvSpPr/>
          <p:nvPr/>
        </p:nvSpPr>
        <p:spPr>
          <a:xfrm>
            <a:off x="609600" y="6438900"/>
            <a:ext cx="422939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Planned motion • No partner commitment, pipeline or sales efficiency claimed</a:t>
            </a:r>
            <a:endParaRPr lang="en-US"/>
          </a:p>
        </p:txBody>
      </p:sp>
      <p:sp>
        <p:nvSpPr>
          <p:cNvPr id="772" name="Shape 772"/>
          <p:cNvSpPr/>
          <p:nvPr/>
        </p:nvSpPr>
        <p:spPr>
          <a:xfrm>
            <a:off x="11244411" y="6438900"/>
            <a:ext cx="357039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14 / 21</a:t>
            </a:r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Shape 773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774" name="Shape 774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775" name="Shape 775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EXECUTION PLAN</a:t>
            </a:r>
            <a:endParaRPr lang="en-US"/>
          </a:p>
        </p:txBody>
      </p:sp>
      <p:sp>
        <p:nvSpPr>
          <p:cNvPr id="776" name="Shape 776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Build the core loop before the catalog.</a:t>
            </a:r>
            <a:endParaRPr lang="en-US"/>
          </a:p>
        </p:txBody>
      </p:sp>
      <p:sp>
        <p:nvSpPr>
          <p:cNvPr id="777" name="Shape 777"/>
          <p:cNvSpPr/>
          <p:nvPr/>
        </p:nvSpPr>
        <p:spPr>
          <a:xfrm>
            <a:off x="609600" y="1840409"/>
            <a:ext cx="3530501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78" name="Shape 778"/>
          <p:cNvSpPr/>
          <p:nvPr/>
        </p:nvSpPr>
        <p:spPr>
          <a:xfrm>
            <a:off x="86677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MONTHS 0–3</a:t>
            </a:r>
            <a:endParaRPr lang="en-US"/>
          </a:p>
        </p:txBody>
      </p:sp>
      <p:sp>
        <p:nvSpPr>
          <p:cNvPr id="779" name="Shape 779"/>
          <p:cNvSpPr/>
          <p:nvPr/>
        </p:nvSpPr>
        <p:spPr>
          <a:xfrm>
            <a:off x="866775" y="2450009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Prove the workflow</a:t>
            </a:r>
            <a:endParaRPr lang="en-US"/>
          </a:p>
        </p:txBody>
      </p:sp>
      <p:sp>
        <p:nvSpPr>
          <p:cNvPr id="780" name="Shape 780"/>
          <p:cNvSpPr/>
          <p:nvPr/>
        </p:nvSpPr>
        <p:spPr>
          <a:xfrm>
            <a:off x="866775" y="2910929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Confirm buyer and budget; prototype publishing and launch; establish baselines.</a:t>
            </a:r>
            <a:endParaRPr lang="en-US"/>
          </a:p>
        </p:txBody>
      </p:sp>
      <p:sp>
        <p:nvSpPr>
          <p:cNvPr id="781" name="Shape 781"/>
          <p:cNvSpPr/>
          <p:nvPr/>
        </p:nvSpPr>
        <p:spPr>
          <a:xfrm>
            <a:off x="4330601" y="1840409"/>
            <a:ext cx="3530650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82" name="Shape 782"/>
          <p:cNvSpPr/>
          <p:nvPr/>
        </p:nvSpPr>
        <p:spPr>
          <a:xfrm>
            <a:off x="4587776" y="2097584"/>
            <a:ext cx="30353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MONTHS 4–9</a:t>
            </a:r>
            <a:endParaRPr lang="en-US"/>
          </a:p>
        </p:txBody>
      </p:sp>
      <p:sp>
        <p:nvSpPr>
          <p:cNvPr id="783" name="Shape 783"/>
          <p:cNvSpPr/>
          <p:nvPr/>
        </p:nvSpPr>
        <p:spPr>
          <a:xfrm>
            <a:off x="4587776" y="2450009"/>
            <a:ext cx="3035350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Qualify the pilot</a:t>
            </a:r>
            <a:endParaRPr lang="en-US"/>
          </a:p>
        </p:txBody>
      </p:sp>
      <p:sp>
        <p:nvSpPr>
          <p:cNvPr id="784" name="Shape 784"/>
          <p:cNvSpPr/>
          <p:nvPr/>
        </p:nvSpPr>
        <p:spPr>
          <a:xfrm>
            <a:off x="4587776" y="2910929"/>
            <a:ext cx="3035350" cy="121503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One environment/agent stack; OIDC, model paths, checks, tools, attribution and revocation.</a:t>
            </a:r>
            <a:endParaRPr lang="en-US"/>
          </a:p>
        </p:txBody>
      </p:sp>
      <p:sp>
        <p:nvSpPr>
          <p:cNvPr id="785" name="Shape 785"/>
          <p:cNvSpPr/>
          <p:nvPr/>
        </p:nvSpPr>
        <p:spPr>
          <a:xfrm>
            <a:off x="8051750" y="1840409"/>
            <a:ext cx="3530501" cy="2542729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86" name="Shape 786"/>
          <p:cNvSpPr/>
          <p:nvPr/>
        </p:nvSpPr>
        <p:spPr>
          <a:xfrm>
            <a:off x="830892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MONTHS 10–18</a:t>
            </a:r>
            <a:endParaRPr lang="en-US"/>
          </a:p>
        </p:txBody>
      </p:sp>
      <p:sp>
        <p:nvSpPr>
          <p:cNvPr id="787" name="Shape 787"/>
          <p:cNvSpPr/>
          <p:nvPr/>
        </p:nvSpPr>
        <p:spPr>
          <a:xfrm>
            <a:off x="8308925" y="2450009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Make it repeatable</a:t>
            </a:r>
            <a:endParaRPr lang="en-US"/>
          </a:p>
        </p:txBody>
      </p:sp>
      <p:sp>
        <p:nvSpPr>
          <p:cNvPr id="788" name="Shape 788"/>
          <p:cNvSpPr/>
          <p:nvPr/>
        </p:nvSpPr>
        <p:spPr>
          <a:xfrm>
            <a:off x="8308925" y="2910929"/>
            <a:ext cx="3035201" cy="121503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Harden operations; qualify another model path; validate memory and support economics.</a:t>
            </a:r>
            <a:endParaRPr lang="en-US"/>
          </a:p>
        </p:txBody>
      </p:sp>
      <p:pic>
        <p:nvPicPr>
          <p:cNvPr id="199" name="Presenton Native Image 3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4611737"/>
            <a:ext cx="10972800" cy="606623"/>
          </a:xfrm>
          <a:prstGeom prst="rect">
            <a:avLst/>
          </a:prstGeom>
        </p:spPr>
      </p:pic>
      <p:sp>
        <p:nvSpPr>
          <p:cNvPr id="789" name="Shape 789"/>
          <p:cNvSpPr/>
          <p:nvPr/>
        </p:nvSpPr>
        <p:spPr>
          <a:xfrm>
            <a:off x="609600" y="4611737"/>
            <a:ext cx="10991850" cy="606623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Later: more adapters, evaluated decision functions and additional employee workflows.</a:t>
            </a:r>
            <a:endParaRPr lang="en-US"/>
          </a:p>
        </p:txBody>
      </p:sp>
      <p:pic>
        <p:nvPicPr>
          <p:cNvPr id="200" name="Presenton Native Image 34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790" name="Shape 790"/>
          <p:cNvSpPr/>
          <p:nvPr/>
        </p:nvSpPr>
        <p:spPr>
          <a:xfrm>
            <a:off x="609600" y="6438900"/>
            <a:ext cx="5379690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Illustrative sequence, not a release commitment • Architecture and backing tools remain undecided</a:t>
            </a:r>
            <a:endParaRPr lang="en-US"/>
          </a:p>
        </p:txBody>
      </p:sp>
      <p:sp>
        <p:nvSpPr>
          <p:cNvPr id="791" name="Shape 791"/>
          <p:cNvSpPr/>
          <p:nvPr/>
        </p:nvSpPr>
        <p:spPr>
          <a:xfrm>
            <a:off x="11247239" y="6438900"/>
            <a:ext cx="354211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15 / 21</a:t>
            </a:r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Shape 792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793" name="Shape 793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794" name="Shape 794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DEFENSIBILITY AND RISK</a:t>
            </a:r>
            <a:endParaRPr lang="en-US"/>
          </a:p>
        </p:txBody>
      </p:sp>
      <p:sp>
        <p:nvSpPr>
          <p:cNvPr id="795" name="Shape 795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Turn integration work into a repeatable product.</a:t>
            </a:r>
            <a:endParaRPr lang="en-US"/>
          </a:p>
        </p:txBody>
      </p:sp>
      <p:sp>
        <p:nvSpPr>
          <p:cNvPr id="796" name="Shape 796"/>
          <p:cNvSpPr/>
          <p:nvPr/>
        </p:nvSpPr>
        <p:spPr>
          <a:xfrm>
            <a:off x="609600" y="1840409"/>
            <a:ext cx="3530501" cy="2238970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797" name="Shape 797"/>
          <p:cNvSpPr/>
          <p:nvPr/>
        </p:nvSpPr>
        <p:spPr>
          <a:xfrm>
            <a:off x="86677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OPERATING KNOWLEDGE</a:t>
            </a:r>
            <a:endParaRPr lang="en-US"/>
          </a:p>
        </p:txBody>
      </p:sp>
      <p:sp>
        <p:nvSpPr>
          <p:cNvPr id="798" name="Shape 798"/>
          <p:cNvSpPr/>
          <p:nvPr/>
        </p:nvSpPr>
        <p:spPr>
          <a:xfrm>
            <a:off x="866775" y="2450009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Qualified integrations</a:t>
            </a:r>
            <a:endParaRPr lang="en-US"/>
          </a:p>
        </p:txBody>
      </p:sp>
      <p:sp>
        <p:nvSpPr>
          <p:cNvPr id="799" name="Shape 799"/>
          <p:cNvSpPr/>
          <p:nvPr/>
        </p:nvSpPr>
        <p:spPr>
          <a:xfrm>
            <a:off x="866775" y="2910929"/>
            <a:ext cx="3035201" cy="6075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Compatibility tests and safe configuration migrations.</a:t>
            </a:r>
            <a:endParaRPr lang="en-US"/>
          </a:p>
        </p:txBody>
      </p:sp>
      <p:sp>
        <p:nvSpPr>
          <p:cNvPr id="800" name="Shape 800"/>
          <p:cNvSpPr/>
          <p:nvPr/>
        </p:nvSpPr>
        <p:spPr>
          <a:xfrm>
            <a:off x="4330601" y="1840409"/>
            <a:ext cx="3530650" cy="2238970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801" name="Shape 801"/>
          <p:cNvSpPr/>
          <p:nvPr/>
        </p:nvSpPr>
        <p:spPr>
          <a:xfrm>
            <a:off x="4587776" y="2097584"/>
            <a:ext cx="30353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TRUSTED WORKFLOWS</a:t>
            </a:r>
            <a:endParaRPr lang="en-US"/>
          </a:p>
        </p:txBody>
      </p:sp>
      <p:sp>
        <p:nvSpPr>
          <p:cNvPr id="802" name="Shape 802"/>
          <p:cNvSpPr/>
          <p:nvPr/>
        </p:nvSpPr>
        <p:spPr>
          <a:xfrm>
            <a:off x="4587776" y="2450009"/>
            <a:ext cx="3035350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Evaluated behavior</a:t>
            </a:r>
            <a:endParaRPr lang="en-US"/>
          </a:p>
        </p:txBody>
      </p:sp>
      <p:sp>
        <p:nvSpPr>
          <p:cNvPr id="803" name="Shape 803"/>
          <p:cNvSpPr/>
          <p:nvPr/>
        </p:nvSpPr>
        <p:spPr>
          <a:xfrm>
            <a:off x="4587776" y="2910929"/>
            <a:ext cx="3035350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Policy, revocation and acceptance evidence for supported scope.</a:t>
            </a:r>
            <a:endParaRPr lang="en-US"/>
          </a:p>
        </p:txBody>
      </p:sp>
      <p:sp>
        <p:nvSpPr>
          <p:cNvPr id="804" name="Shape 804"/>
          <p:cNvSpPr/>
          <p:nvPr/>
        </p:nvSpPr>
        <p:spPr>
          <a:xfrm>
            <a:off x="8051750" y="1840409"/>
            <a:ext cx="3530501" cy="2238970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805" name="Shape 805"/>
          <p:cNvSpPr/>
          <p:nvPr/>
        </p:nvSpPr>
        <p:spPr>
          <a:xfrm>
            <a:off x="8308925" y="2097584"/>
            <a:ext cx="30352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EMBEDDED OPERATIONS</a:t>
            </a:r>
            <a:endParaRPr lang="en-US"/>
          </a:p>
        </p:txBody>
      </p:sp>
      <p:sp>
        <p:nvSpPr>
          <p:cNvPr id="806" name="Shape 806"/>
          <p:cNvSpPr/>
          <p:nvPr/>
        </p:nvSpPr>
        <p:spPr>
          <a:xfrm>
            <a:off x="8308925" y="2450009"/>
            <a:ext cx="3035201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Useful administration</a:t>
            </a:r>
            <a:endParaRPr lang="en-US"/>
          </a:p>
        </p:txBody>
      </p:sp>
      <p:sp>
        <p:nvSpPr>
          <p:cNvPr id="807" name="Shape 807"/>
          <p:cNvSpPr/>
          <p:nvPr/>
        </p:nvSpPr>
        <p:spPr>
          <a:xfrm>
            <a:off x="8308925" y="2910929"/>
            <a:ext cx="3035201" cy="9112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Understandable profiles and lifecycle workflows, with portability.</a:t>
            </a:r>
            <a:endParaRPr lang="en-US"/>
          </a:p>
        </p:txBody>
      </p:sp>
      <p:pic>
        <p:nvPicPr>
          <p:cNvPr id="201" name="Presenton Native Image 35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4307979"/>
            <a:ext cx="10972800" cy="889397"/>
          </a:xfrm>
          <a:prstGeom prst="rect">
            <a:avLst/>
          </a:prstGeom>
        </p:spPr>
      </p:pic>
      <p:sp>
        <p:nvSpPr>
          <p:cNvPr id="808" name="Shape 808"/>
          <p:cNvSpPr/>
          <p:nvPr/>
        </p:nvSpPr>
        <p:spPr>
          <a:xfrm>
            <a:off x="609600" y="4307979"/>
            <a:ext cx="10991850" cy="889397"/>
          </a:xfrm>
          <a:prstGeom prst="rect">
            <a:avLst/>
          </a:prstGeom>
          <a:noFill/>
        </p:spPr>
        <p:txBody>
          <a:bodyPr anchor="t" wrap="square" tIns="161925" bIns="161925" lIns="228600" rIns="228600">
            <a:normAutofit/>
          </a:bodyPr>
          <a:lstStyle/>
          <a:p>
            <a:pPr algn="l">
              <a:lnSpc>
                <a:spcPts val="2228"/>
              </a:lnSpc>
              <a:buNone/>
            </a:pPr>
            <a:r>
              <a:rPr sz="1650" b="0" i="0">
                <a:solidFill>
                  <a:srgbClr val="182230"/>
                </a:solidFill>
                <a:latin typeface="Inter"/>
                <a:ea typeface="Inter"/>
              </a:rPr>
              <a:t>Risks to retire: incumbent convergence, support-heavy integrations, imperfect inspection and uncertain demand.</a:t>
            </a:r>
            <a:endParaRPr lang="en-US"/>
          </a:p>
        </p:txBody>
      </p:sp>
      <p:pic>
        <p:nvPicPr>
          <p:cNvPr id="202" name="Presenton Native Image 3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809" name="Shape 809"/>
          <p:cNvSpPr/>
          <p:nvPr/>
        </p:nvSpPr>
        <p:spPr>
          <a:xfrm>
            <a:off x="609600" y="6438900"/>
            <a:ext cx="7487989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Potential moat, not established advantage • No proprietary dataset or network effect claimed • Customer content is not assumed trainable</a:t>
            </a:r>
            <a:endParaRPr lang="en-US"/>
          </a:p>
        </p:txBody>
      </p:sp>
      <p:sp>
        <p:nvSpPr>
          <p:cNvPr id="810" name="Shape 810"/>
          <p:cNvSpPr/>
          <p:nvPr/>
        </p:nvSpPr>
        <p:spPr>
          <a:xfrm>
            <a:off x="11242477" y="6438900"/>
            <a:ext cx="358973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16 / 21</a:t>
            </a:r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Shape 811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812" name="Shape 812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813" name="Shape 813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CURRENT STAGE AND TEAM</a:t>
            </a:r>
            <a:endParaRPr lang="en-US"/>
          </a:p>
        </p:txBody>
      </p:sp>
      <p:sp>
        <p:nvSpPr>
          <p:cNvPr id="814" name="Shape 814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The next proof is customer proof.</a:t>
            </a:r>
            <a:endParaRPr lang="en-US"/>
          </a:p>
        </p:txBody>
      </p:sp>
      <p:sp>
        <p:nvSpPr>
          <p:cNvPr id="815" name="Shape 815"/>
          <p:cNvSpPr/>
          <p:nvPr/>
        </p:nvSpPr>
        <p:spPr>
          <a:xfrm>
            <a:off x="609600" y="1802309"/>
            <a:ext cx="5381625" cy="1935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816" name="Shape 816"/>
          <p:cNvSpPr/>
          <p:nvPr/>
        </p:nvSpPr>
        <p:spPr>
          <a:xfrm>
            <a:off x="866775" y="2059484"/>
            <a:ext cx="48863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DISCOVERY COMPLETE</a:t>
            </a:r>
            <a:endParaRPr lang="en-US"/>
          </a:p>
        </p:txBody>
      </p:sp>
      <p:sp>
        <p:nvSpPr>
          <p:cNvPr id="817" name="Shape 817"/>
          <p:cNvSpPr/>
          <p:nvPr/>
        </p:nvSpPr>
        <p:spPr>
          <a:xfrm>
            <a:off x="866775" y="2411909"/>
            <a:ext cx="4886325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Research inputs</a:t>
            </a:r>
            <a:endParaRPr lang="en-US"/>
          </a:p>
        </p:txBody>
      </p:sp>
      <p:sp>
        <p:nvSpPr>
          <p:cNvPr id="818" name="Shape 818"/>
          <p:cNvSpPr/>
          <p:nvPr/>
        </p:nvSpPr>
        <p:spPr>
          <a:xfrm>
            <a:off x="866775" y="2872829"/>
            <a:ext cx="4886325" cy="6075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Capability inventory, adjacent-product research and company governance evidence.</a:t>
            </a:r>
            <a:endParaRPr lang="en-US"/>
          </a:p>
        </p:txBody>
      </p:sp>
      <p:sp>
        <p:nvSpPr>
          <p:cNvPr id="819" name="Shape 819"/>
          <p:cNvSpPr/>
          <p:nvPr/>
        </p:nvSpPr>
        <p:spPr>
          <a:xfrm>
            <a:off x="6200775" y="1802309"/>
            <a:ext cx="5381625" cy="1935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820" name="Shape 820"/>
          <p:cNvSpPr/>
          <p:nvPr/>
        </p:nvSpPr>
        <p:spPr>
          <a:xfrm>
            <a:off x="6457950" y="2059484"/>
            <a:ext cx="48863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1" i="0" spc="75">
                <a:solidFill>
                  <a:srgbClr val="1647D8"/>
                </a:solidFill>
                <a:latin typeface="Sora"/>
                <a:ea typeface="Sora"/>
              </a:rPr>
              <a:t>VALIDATION NEXT</a:t>
            </a:r>
            <a:endParaRPr lang="en-US"/>
          </a:p>
        </p:txBody>
      </p:sp>
      <p:sp>
        <p:nvSpPr>
          <p:cNvPr id="821" name="Shape 821"/>
          <p:cNvSpPr/>
          <p:nvPr/>
        </p:nvSpPr>
        <p:spPr>
          <a:xfrm>
            <a:off x="6457950" y="2411909"/>
            <a:ext cx="4886325" cy="30852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30"/>
              </a:lnSpc>
              <a:buNone/>
            </a:pPr>
            <a:r>
              <a:rPr sz="2025" b="1" i="0">
                <a:solidFill>
                  <a:srgbClr val="182230"/>
                </a:solidFill>
                <a:latin typeface="Sora"/>
                <a:ea typeface="Sora"/>
              </a:rPr>
              <a:t>Customer and product proof</a:t>
            </a:r>
            <a:endParaRPr lang="en-US"/>
          </a:p>
        </p:txBody>
      </p:sp>
      <p:sp>
        <p:nvSpPr>
          <p:cNvPr id="822" name="Shape 822"/>
          <p:cNvSpPr/>
          <p:nvPr/>
        </p:nvSpPr>
        <p:spPr>
          <a:xfrm>
            <a:off x="6457950" y="2872829"/>
            <a:ext cx="4886325" cy="6075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92"/>
              </a:lnSpc>
              <a:buNone/>
            </a:pPr>
            <a:r>
              <a:rPr sz="1650" b="0" i="0">
                <a:solidFill>
                  <a:srgbClr val="475467"/>
                </a:solidFill>
                <a:latin typeface="Inter"/>
                <a:ea typeface="Inter"/>
              </a:rPr>
              <a:t>Paying demand, deployment outcomes, tested security and sustainable economics.</a:t>
            </a:r>
            <a:endParaRPr lang="en-US"/>
          </a:p>
        </p:txBody>
      </p:sp>
      <p:pic>
        <p:nvPicPr>
          <p:cNvPr id="203" name="Presenton Native Image 37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3966121"/>
            <a:ext cx="10972800" cy="786705"/>
          </a:xfrm>
          <a:prstGeom prst="rect">
            <a:avLst/>
          </a:prstGeom>
        </p:spPr>
      </p:pic>
      <p:sp>
        <p:nvSpPr>
          <p:cNvPr id="823" name="Shape 823"/>
          <p:cNvSpPr/>
          <p:nvPr/>
        </p:nvSpPr>
        <p:spPr>
          <a:xfrm>
            <a:off x="609600" y="4166146"/>
            <a:ext cx="2590800" cy="58668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75"/>
              </a:lnSpc>
              <a:buNone/>
            </a:pPr>
            <a:r>
              <a:rPr sz="1650" b="1" i="0">
                <a:solidFill>
                  <a:srgbClr val="1647D8"/>
                </a:solidFill>
                <a:latin typeface="Sora"/>
                <a:ea typeface="Sora"/>
              </a:rPr>
              <a:t>Founding capabilities</a:t>
            </a:r>
            <a:endParaRPr lang="en-US"/>
          </a:p>
        </p:txBody>
      </p:sp>
      <p:sp>
        <p:nvSpPr>
          <p:cNvPr id="824" name="Shape 824"/>
          <p:cNvSpPr/>
          <p:nvPr/>
        </p:nvSpPr>
        <p:spPr>
          <a:xfrm>
            <a:off x="3181350" y="4166146"/>
            <a:ext cx="8420100" cy="58668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10"/>
              </a:lnSpc>
              <a:buNone/>
            </a:pPr>
            <a:r>
              <a:rPr sz="1650" b="0" i="0">
                <a:solidFill>
                  <a:srgbClr val="344054"/>
                </a:solidFill>
                <a:latin typeface="Inter"/>
                <a:ea typeface="Inter"/>
              </a:rPr>
              <a:t>Platform/runtime engineering • Enterprise security and identity</a:t>
            </a:r>
            <a:r>
              <a:rPr sz="1650" b="0" i="0">
                <a:solidFill>
                  <a:srgbClr val="344054"/>
                </a:solidFill>
                <a:latin typeface="Inter"/>
                <a:ea typeface="Inter"/>
              </a:rPr>
              <a:t xml:space="preserve">
</a:t>
            </a:r>
            <a:r>
              <a:rPr sz="1650" b="0" i="0">
                <a:solidFill>
                  <a:srgbClr val="344054"/>
                </a:solidFill>
                <a:latin typeface="Inter"/>
                <a:ea typeface="Inter"/>
              </a:rPr>
              <a:t>Developer-product design • Technical enterprise sales</a:t>
            </a:r>
            <a:endParaRPr lang="en-US"/>
          </a:p>
        </p:txBody>
      </p:sp>
      <p:pic>
        <p:nvPicPr>
          <p:cNvPr id="204" name="Presenton Native Image 3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825" name="Shape 825"/>
          <p:cNvSpPr/>
          <p:nvPr/>
        </p:nvSpPr>
        <p:spPr>
          <a:xfrm>
            <a:off x="609600" y="6438900"/>
            <a:ext cx="7009656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Team names and credentials not provided • Replace with factual team slide before circulation • No customers or revenue claimed</a:t>
            </a:r>
            <a:endParaRPr lang="en-US"/>
          </a:p>
        </p:txBody>
      </p:sp>
      <p:sp>
        <p:nvSpPr>
          <p:cNvPr id="826" name="Shape 826"/>
          <p:cNvSpPr/>
          <p:nvPr/>
        </p:nvSpPr>
        <p:spPr>
          <a:xfrm>
            <a:off x="11251853" y="6438900"/>
            <a:ext cx="34959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17 / 21</a:t>
            </a:r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4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Shape 827"/>
          <p:cNvSpPr/>
          <p:nvPr/>
        </p:nvSpPr>
        <p:spPr>
          <a:xfrm>
            <a:off x="609600" y="419100"/>
            <a:ext cx="1625501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0" i="0" spc="75">
                <a:solidFill>
                  <a:srgbClr val="FFFFFF"/>
                </a:solidFill>
                <a:latin typeface="Inter"/>
                <a:ea typeface="Inter"/>
              </a:rPr>
              <a:t>WORKPLANE / THE ASK</a:t>
            </a:r>
            <a:endParaRPr lang="en-US"/>
          </a:p>
        </p:txBody>
      </p:sp>
      <p:sp>
        <p:nvSpPr>
          <p:cNvPr id="828" name="Shape 828"/>
          <p:cNvSpPr/>
          <p:nvPr/>
        </p:nvSpPr>
        <p:spPr>
          <a:xfrm>
            <a:off x="10107364" y="419100"/>
            <a:ext cx="1494086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0" i="0" spc="75">
                <a:solidFill>
                  <a:srgbClr val="FFFFFF"/>
                </a:solidFill>
                <a:latin typeface="Inter"/>
                <a:ea typeface="Inter"/>
              </a:rPr>
              <a:t>PROPOSED PRE-SEED</a:t>
            </a:r>
            <a:endParaRPr lang="en-US"/>
          </a:p>
        </p:txBody>
      </p:sp>
      <p:sp>
        <p:nvSpPr>
          <p:cNvPr id="829" name="Shape 829"/>
          <p:cNvSpPr/>
          <p:nvPr/>
        </p:nvSpPr>
        <p:spPr>
          <a:xfrm>
            <a:off x="609600" y="1123950"/>
            <a:ext cx="4876800" cy="10382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8175"/>
              </a:lnSpc>
              <a:buNone/>
            </a:pPr>
            <a:r>
              <a:rPr sz="8175" b="1" i="0" spc="0">
                <a:solidFill>
                  <a:srgbClr val="FFFFFF"/>
                </a:solidFill>
                <a:latin typeface="Sora"/>
                <a:ea typeface="Sora"/>
              </a:rPr>
              <a:t>$2.0m</a:t>
            </a:r>
            <a:endParaRPr lang="en-US"/>
          </a:p>
        </p:txBody>
      </p:sp>
      <p:sp>
        <p:nvSpPr>
          <p:cNvPr id="830" name="Shape 830"/>
          <p:cNvSpPr/>
          <p:nvPr/>
        </p:nvSpPr>
        <p:spPr>
          <a:xfrm>
            <a:off x="609600" y="2371725"/>
            <a:ext cx="4876800" cy="121354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186"/>
              </a:lnSpc>
              <a:buNone/>
            </a:pPr>
            <a:r>
              <a:rPr sz="2700" b="1" i="0">
                <a:solidFill>
                  <a:srgbClr val="FFFFFF"/>
                </a:solidFill>
                <a:latin typeface="Sora"/>
                <a:ea typeface="Sora"/>
              </a:rPr>
              <a:t>Fund the proof of a</a:t>
            </a:r>
            <a:r>
              <a:rPr sz="2700" b="1" i="0">
                <a:solidFill>
                  <a:srgbClr val="FFFFFF"/>
                </a:solidFill>
                <a:latin typeface="Sora"/>
                <a:ea typeface="Sora"/>
              </a:rPr>
              <a:t xml:space="preserve">
</a:t>
            </a:r>
            <a:r>
              <a:rPr sz="2700" b="1" i="0">
                <a:solidFill>
                  <a:srgbClr val="FFFFFF"/>
                </a:solidFill>
                <a:latin typeface="Sora"/>
                <a:ea typeface="Sora"/>
              </a:rPr>
              <a:t>repeatable company rollout.</a:t>
            </a:r>
            <a:endParaRPr lang="en-US"/>
          </a:p>
        </p:txBody>
      </p:sp>
      <p:sp>
        <p:nvSpPr>
          <p:cNvPr id="831" name="Shape 831"/>
          <p:cNvSpPr/>
          <p:nvPr/>
        </p:nvSpPr>
        <p:spPr>
          <a:xfrm>
            <a:off x="609600" y="3785295"/>
            <a:ext cx="4876800" cy="6286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75"/>
              </a:lnSpc>
              <a:buNone/>
            </a:pPr>
            <a:r>
              <a:rPr sz="1650" b="0" i="0">
                <a:solidFill>
                  <a:srgbClr val="DCE8FF"/>
                </a:solidFill>
                <a:latin typeface="Inter"/>
                <a:ea typeface="Inter"/>
              </a:rPr>
              <a:t>An illustrative 18-month</a:t>
            </a:r>
            <a:r>
              <a:rPr sz="1650" b="0" i="0">
                <a:solidFill>
                  <a:srgbClr val="DCE8FF"/>
                </a:solidFill>
                <a:latin typeface="Inter"/>
                <a:ea typeface="Inter"/>
              </a:rPr>
              <a:t xml:space="preserve">
</a:t>
            </a:r>
            <a:r>
              <a:rPr sz="1650" b="0" i="0">
                <a:solidFill>
                  <a:srgbClr val="DCE8FF"/>
                </a:solidFill>
                <a:latin typeface="Inter"/>
                <a:ea typeface="Inter"/>
              </a:rPr>
              <a:t>validation program.</a:t>
            </a:r>
            <a:endParaRPr lang="en-US"/>
          </a:p>
        </p:txBody>
      </p:sp>
      <p:sp>
        <p:nvSpPr>
          <p:cNvPr id="832" name="Shape 832"/>
          <p:cNvSpPr/>
          <p:nvPr/>
        </p:nvSpPr>
        <p:spPr>
          <a:xfrm>
            <a:off x="609600" y="4709220"/>
            <a:ext cx="4876800" cy="75411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80"/>
              </a:lnSpc>
              <a:buNone/>
            </a:pPr>
            <a:r>
              <a:rPr sz="1200" b="0" i="0">
                <a:solidFill>
                  <a:srgbClr val="DCE8FF"/>
                </a:solidFill>
                <a:latin typeface="Inter"/>
                <a:ea typeface="Inter"/>
              </a:rPr>
              <a:t>$1.4m product, engineering and security</a:t>
            </a:r>
            <a:r>
              <a:rPr sz="1200" b="0" i="0">
                <a:solidFill>
                  <a:srgbClr val="DCE8FF"/>
                </a:solidFill>
                <a:latin typeface="Inter"/>
                <a:ea typeface="Inter"/>
              </a:rPr>
              <a:t xml:space="preserve">
</a:t>
            </a:r>
            <a:r>
              <a:rPr sz="1200" b="0" i="0">
                <a:solidFill>
                  <a:srgbClr val="DCE8FF"/>
                </a:solidFill>
                <a:latin typeface="Inter"/>
                <a:ea typeface="Inter"/>
              </a:rPr>
              <a:t>$0.3m customer development</a:t>
            </a:r>
            <a:r>
              <a:rPr sz="1200" b="0" i="0">
                <a:solidFill>
                  <a:srgbClr val="DCE8FF"/>
                </a:solidFill>
                <a:latin typeface="Inter"/>
                <a:ea typeface="Inter"/>
              </a:rPr>
              <a:t xml:space="preserve">
</a:t>
            </a:r>
            <a:r>
              <a:rPr sz="1200" b="0" i="0">
                <a:solidFill>
                  <a:srgbClr val="DCE8FF"/>
                </a:solidFill>
                <a:latin typeface="Inter"/>
                <a:ea typeface="Inter"/>
              </a:rPr>
              <a:t>$0.3m infrastructure, legal and reserve</a:t>
            </a:r>
            <a:endParaRPr lang="en-US"/>
          </a:p>
        </p:txBody>
      </p:sp>
      <p:sp>
        <p:nvSpPr>
          <p:cNvPr id="833" name="Shape 833"/>
          <p:cNvSpPr/>
          <p:nvPr/>
        </p:nvSpPr>
        <p:spPr>
          <a:xfrm>
            <a:off x="6238875" y="1181100"/>
            <a:ext cx="525780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 spc="150">
                <a:solidFill>
                  <a:srgbClr val="FFFFFF"/>
                </a:solidFill>
                <a:latin typeface="Inter"/>
                <a:ea typeface="Inter"/>
              </a:rPr>
              <a:t>PROOF POINTS TO REACH</a:t>
            </a:r>
            <a:endParaRPr lang="en-US"/>
          </a:p>
        </p:txBody>
      </p:sp>
      <p:pic>
        <p:nvPicPr>
          <p:cNvPr id="205" name="Presenton Native Image 39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238875" y="1609725"/>
            <a:ext cx="5238750" cy="902791"/>
          </a:xfrm>
          <a:prstGeom prst="rect">
            <a:avLst/>
          </a:prstGeom>
        </p:spPr>
      </p:pic>
      <p:sp>
        <p:nvSpPr>
          <p:cNvPr id="834" name="Shape 834"/>
          <p:cNvSpPr/>
          <p:nvPr/>
        </p:nvSpPr>
        <p:spPr>
          <a:xfrm>
            <a:off x="6238875" y="1781175"/>
            <a:ext cx="5257800" cy="5694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42"/>
              </a:lnSpc>
              <a:buNone/>
            </a:pP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Three completed partner pilots;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 xml:space="preserve">
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at least two annual conversions.</a:t>
            </a:r>
            <a:endParaRPr lang="en-US"/>
          </a:p>
        </p:txBody>
      </p:sp>
      <p:pic>
        <p:nvPicPr>
          <p:cNvPr id="206" name="Presenton Native Image 40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238875" y="2512516"/>
            <a:ext cx="5238750" cy="902791"/>
          </a:xfrm>
          <a:prstGeom prst="rect">
            <a:avLst/>
          </a:prstGeom>
        </p:spPr>
      </p:pic>
      <p:sp>
        <p:nvSpPr>
          <p:cNvPr id="835" name="Shape 835"/>
          <p:cNvSpPr/>
          <p:nvPr/>
        </p:nvSpPr>
        <p:spPr>
          <a:xfrm>
            <a:off x="6238875" y="2683966"/>
            <a:ext cx="5257800" cy="5694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42"/>
              </a:lnSpc>
              <a:buNone/>
            </a:pP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Repeatable installation and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 xml:space="preserve">
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employee onboarding.</a:t>
            </a:r>
            <a:endParaRPr lang="en-US"/>
          </a:p>
        </p:txBody>
      </p:sp>
      <p:pic>
        <p:nvPicPr>
          <p:cNvPr id="207" name="Presenton Native Image 41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6238875" y="3415308"/>
            <a:ext cx="5238750" cy="902791"/>
          </a:xfrm>
          <a:prstGeom prst="rect">
            <a:avLst/>
          </a:prstGeom>
        </p:spPr>
      </p:pic>
      <p:sp>
        <p:nvSpPr>
          <p:cNvPr id="836" name="Shape 836"/>
          <p:cNvSpPr/>
          <p:nvPr/>
        </p:nvSpPr>
        <p:spPr>
          <a:xfrm>
            <a:off x="6238875" y="3586758"/>
            <a:ext cx="5257800" cy="5694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42"/>
              </a:lnSpc>
              <a:buNone/>
            </a:pP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Tested authorization, data paths,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 xml:space="preserve">
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revocation and recovery.</a:t>
            </a:r>
            <a:endParaRPr lang="en-US"/>
          </a:p>
        </p:txBody>
      </p:sp>
      <p:pic>
        <p:nvPicPr>
          <p:cNvPr id="208" name="Presenton Native Image 42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238875" y="4318099"/>
            <a:ext cx="5238750" cy="902791"/>
          </a:xfrm>
          <a:prstGeom prst="rect">
            <a:avLst/>
          </a:prstGeom>
        </p:spPr>
      </p:pic>
      <p:sp>
        <p:nvSpPr>
          <p:cNvPr id="837" name="Shape 837"/>
          <p:cNvSpPr/>
          <p:nvPr/>
        </p:nvSpPr>
        <p:spPr>
          <a:xfrm>
            <a:off x="6238875" y="4489549"/>
            <a:ext cx="5257800" cy="56941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42"/>
              </a:lnSpc>
              <a:buNone/>
            </a:pP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Buyer value and sustainable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 xml:space="preserve">
</a:t>
            </a:r>
            <a:r>
              <a:rPr sz="1725" b="0" i="0">
                <a:solidFill>
                  <a:srgbClr val="FFFFFF"/>
                </a:solidFill>
                <a:latin typeface="Inter"/>
                <a:ea typeface="Inter"/>
              </a:rPr>
              <a:t>deployment economics.</a:t>
            </a:r>
            <a:endParaRPr lang="en-US"/>
          </a:p>
        </p:txBody>
      </p:sp>
      <p:pic>
        <p:nvPicPr>
          <p:cNvPr id="209" name="Presenton Native Image 4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838" name="Shape 838"/>
          <p:cNvSpPr/>
          <p:nvPr/>
        </p:nvSpPr>
        <p:spPr>
          <a:xfrm>
            <a:off x="609600" y="6438900"/>
            <a:ext cx="6825555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DCE8FF"/>
                </a:solidFill>
                <a:latin typeface="Inter"/>
                <a:ea typeface="Inter"/>
              </a:rPr>
              <a:t>Planning assumptions only • No live raise asserted • Funding, allocation, team costs and milestones require founder validation</a:t>
            </a:r>
            <a:endParaRPr lang="en-US"/>
          </a:p>
        </p:txBody>
      </p:sp>
      <p:sp>
        <p:nvSpPr>
          <p:cNvPr id="839" name="Shape 839"/>
          <p:cNvSpPr/>
          <p:nvPr/>
        </p:nvSpPr>
        <p:spPr>
          <a:xfrm>
            <a:off x="11244858" y="6438900"/>
            <a:ext cx="356592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DCE8FF"/>
                </a:solidFill>
                <a:latin typeface="Sora"/>
                <a:ea typeface="Sora"/>
              </a:rPr>
              <a:t>18 / 21</a:t>
            </a: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Shape 840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841" name="Shape 841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842" name="Shape 842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APPENDIX / ACCEPTANCE</a:t>
            </a:r>
            <a:endParaRPr lang="en-US"/>
          </a:p>
        </p:txBody>
      </p:sp>
      <p:sp>
        <p:nvSpPr>
          <p:cNvPr id="843" name="Shape 843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Company controls need tests, not only settings.</a:t>
            </a:r>
            <a:endParaRPr lang="en-US"/>
          </a:p>
        </p:txBody>
      </p:sp>
      <p:sp>
        <p:nvSpPr>
          <p:cNvPr id="844" name="Shape 844"/>
          <p:cNvSpPr/>
          <p:nvPr/>
        </p:nvSpPr>
        <p:spPr>
          <a:xfrm>
            <a:off x="609600" y="1802309"/>
            <a:ext cx="10972800" cy="3401318"/>
          </a:xfrm>
          <a:prstGeom prst="rect">
            <a:avLst/>
          </a:prstGeom>
          <a:noFill/>
          <a:ln w="9525">
            <a:solidFill>
              <a:srgbClr val="C4D5F8"/>
            </a:solidFill>
          </a:ln>
        </p:spPr>
        <p:txBody>
          <a:bodyPr/>
          <a:lstStyle/>
          <a:p/>
        </p:txBody>
      </p:sp>
      <p:sp>
        <p:nvSpPr>
          <p:cNvPr id="845" name="Shape 845"/>
          <p:cNvSpPr/>
          <p:nvPr/>
        </p:nvSpPr>
        <p:spPr>
          <a:xfrm>
            <a:off x="619125" y="1811834"/>
            <a:ext cx="10953750" cy="477143"/>
          </a:xfrm>
          <a:prstGeom prst="rect">
            <a:avLst/>
          </a:prstGeom>
          <a:solidFill>
            <a:srgbClr val="1647D8"/>
          </a:solidFill>
        </p:spPr>
        <p:txBody>
          <a:bodyPr/>
          <a:lstStyle/>
          <a:p/>
        </p:txBody>
      </p:sp>
      <p:sp>
        <p:nvSpPr>
          <p:cNvPr id="846" name="Shape 846"/>
          <p:cNvSpPr/>
          <p:nvPr/>
        </p:nvSpPr>
        <p:spPr>
          <a:xfrm>
            <a:off x="619125" y="1811834"/>
            <a:ext cx="3162300" cy="477143"/>
          </a:xfrm>
          <a:prstGeom prst="rect">
            <a:avLst/>
          </a:prstGeom>
          <a:noFill/>
        </p:spPr>
        <p:txBody>
          <a:bodyPr anchor="t" wrap="square" tIns="133350" bIns="133350" lIns="190500" rIns="190500">
            <a:normAutofit/>
          </a:bodyPr>
          <a:lstStyle/>
          <a:p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FFFFFF"/>
                </a:solidFill>
                <a:latin typeface="Inter"/>
                <a:ea typeface="Inter"/>
              </a:rPr>
              <a:t>AREA</a:t>
            </a:r>
            <a:endParaRPr lang="en-US"/>
          </a:p>
        </p:txBody>
      </p:sp>
      <p:sp>
        <p:nvSpPr>
          <p:cNvPr id="847" name="Shape 847"/>
          <p:cNvSpPr/>
          <p:nvPr/>
        </p:nvSpPr>
        <p:spPr>
          <a:xfrm>
            <a:off x="3762375" y="1811834"/>
            <a:ext cx="7829550" cy="477143"/>
          </a:xfrm>
          <a:prstGeom prst="rect">
            <a:avLst/>
          </a:prstGeom>
          <a:noFill/>
        </p:spPr>
        <p:txBody>
          <a:bodyPr anchor="t" wrap="square" tIns="133350" bIns="133350" lIns="190500" rIns="190500">
            <a:normAutofit/>
          </a:bodyPr>
          <a:lstStyle/>
          <a:p>
            <a:pPr algn="l">
              <a:lnSpc>
                <a:spcPts val="1658"/>
              </a:lnSpc>
              <a:buNone/>
            </a:pPr>
            <a:r>
              <a:rPr sz="1275" b="1" i="0">
                <a:solidFill>
                  <a:srgbClr val="FFFFFF"/>
                </a:solidFill>
                <a:latin typeface="Inter"/>
                <a:ea typeface="Inter"/>
              </a:rPr>
              <a:t>PROPOSED ACCEPTANCE EVIDENCE</a:t>
            </a:r>
            <a:endParaRPr lang="en-US"/>
          </a:p>
        </p:txBody>
      </p:sp>
      <p:pic>
        <p:nvPicPr>
          <p:cNvPr id="210" name="Presenton Native Image 44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2288977"/>
            <a:ext cx="10953750" cy="581025"/>
          </a:xfrm>
          <a:prstGeom prst="rect">
            <a:avLst/>
          </a:prstGeom>
        </p:spPr>
      </p:pic>
      <p:sp>
        <p:nvSpPr>
          <p:cNvPr id="848" name="Shape 848"/>
          <p:cNvSpPr/>
          <p:nvPr/>
        </p:nvSpPr>
        <p:spPr>
          <a:xfrm>
            <a:off x="619125" y="2288977"/>
            <a:ext cx="3162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Identity / action scope</a:t>
            </a:r>
            <a:endParaRPr lang="en-US"/>
          </a:p>
        </p:txBody>
      </p:sp>
      <p:sp>
        <p:nvSpPr>
          <p:cNvPr id="849" name="Shape 849"/>
          <p:cNvSpPr/>
          <p:nvPr/>
        </p:nvSpPr>
        <p:spPr>
          <a:xfrm>
            <a:off x="3762375" y="2288977"/>
            <a:ext cx="7829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Cross-user denials; bounded, expiring approvals</a:t>
            </a:r>
            <a:endParaRPr lang="en-US"/>
          </a:p>
        </p:txBody>
      </p:sp>
      <p:pic>
        <p:nvPicPr>
          <p:cNvPr id="211" name="Presenton Native Image 45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2870002"/>
            <a:ext cx="10953750" cy="581025"/>
          </a:xfrm>
          <a:prstGeom prst="rect">
            <a:avLst/>
          </a:prstGeom>
        </p:spPr>
      </p:pic>
      <p:sp>
        <p:nvSpPr>
          <p:cNvPr id="850" name="Shape 850"/>
          <p:cNvSpPr/>
          <p:nvPr/>
        </p:nvSpPr>
        <p:spPr>
          <a:xfrm>
            <a:off x="619125" y="2870002"/>
            <a:ext cx="3162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Data paths</a:t>
            </a:r>
            <a:endParaRPr lang="en-US"/>
          </a:p>
        </p:txBody>
      </p:sp>
      <p:sp>
        <p:nvSpPr>
          <p:cNvPr id="851" name="Shape 851"/>
          <p:cNvSpPr/>
          <p:nvPr/>
        </p:nvSpPr>
        <p:spPr>
          <a:xfrm>
            <a:off x="3762375" y="2870002"/>
            <a:ext cx="7829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Coverage, bypass tests and scanner failure behavior</a:t>
            </a:r>
            <a:endParaRPr lang="en-US"/>
          </a:p>
        </p:txBody>
      </p:sp>
      <p:pic>
        <p:nvPicPr>
          <p:cNvPr id="212" name="Presenton Native Image 46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3451027"/>
            <a:ext cx="10953750" cy="581025"/>
          </a:xfrm>
          <a:prstGeom prst="rect">
            <a:avLst/>
          </a:prstGeom>
        </p:spPr>
      </p:pic>
      <p:sp>
        <p:nvSpPr>
          <p:cNvPr id="852" name="Shape 852"/>
          <p:cNvSpPr/>
          <p:nvPr/>
        </p:nvSpPr>
        <p:spPr>
          <a:xfrm>
            <a:off x="619125" y="3451027"/>
            <a:ext cx="3162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Context lifecycle</a:t>
            </a:r>
            <a:endParaRPr lang="en-US"/>
          </a:p>
        </p:txBody>
      </p:sp>
      <p:sp>
        <p:nvSpPr>
          <p:cNvPr id="853" name="Shape 853"/>
          <p:cNvSpPr/>
          <p:nvPr/>
        </p:nvSpPr>
        <p:spPr>
          <a:xfrm>
            <a:off x="3762375" y="3451027"/>
            <a:ext cx="7829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Source access, retention and derived-data deletion</a:t>
            </a:r>
            <a:endParaRPr lang="en-US"/>
          </a:p>
        </p:txBody>
      </p:sp>
      <p:pic>
        <p:nvPicPr>
          <p:cNvPr id="213" name="Presenton Native Image 47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4032052"/>
            <a:ext cx="10953750" cy="581025"/>
          </a:xfrm>
          <a:prstGeom prst="rect">
            <a:avLst/>
          </a:prstGeom>
        </p:spPr>
      </p:pic>
      <p:sp>
        <p:nvSpPr>
          <p:cNvPr id="854" name="Shape 854"/>
          <p:cNvSpPr/>
          <p:nvPr/>
        </p:nvSpPr>
        <p:spPr>
          <a:xfrm>
            <a:off x="619125" y="4032052"/>
            <a:ext cx="3162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Cost / reliability</a:t>
            </a:r>
            <a:endParaRPr lang="en-US"/>
          </a:p>
        </p:txBody>
      </p:sp>
      <p:sp>
        <p:nvSpPr>
          <p:cNvPr id="855" name="Shape 855"/>
          <p:cNvSpPr/>
          <p:nvPr/>
        </p:nvSpPr>
        <p:spPr>
          <a:xfrm>
            <a:off x="3762375" y="4032052"/>
            <a:ext cx="7829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Run limits, retry caps, cancellation and attribution</a:t>
            </a:r>
            <a:endParaRPr lang="en-US"/>
          </a:p>
        </p:txBody>
      </p:sp>
      <p:pic>
        <p:nvPicPr>
          <p:cNvPr id="214" name="Presenton Native Image 48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19125" y="4613077"/>
            <a:ext cx="10953750" cy="581025"/>
          </a:xfrm>
          <a:prstGeom prst="rect">
            <a:avLst/>
          </a:prstGeom>
        </p:spPr>
      </p:pic>
      <p:sp>
        <p:nvSpPr>
          <p:cNvPr id="856" name="Shape 856"/>
          <p:cNvSpPr/>
          <p:nvPr/>
        </p:nvSpPr>
        <p:spPr>
          <a:xfrm>
            <a:off x="619125" y="4613077"/>
            <a:ext cx="316230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Operations</a:t>
            </a:r>
            <a:endParaRPr lang="en-US"/>
          </a:p>
        </p:txBody>
      </p:sp>
      <p:sp>
        <p:nvSpPr>
          <p:cNvPr id="857" name="Shape 857"/>
          <p:cNvSpPr/>
          <p:nvPr/>
        </p:nvSpPr>
        <p:spPr>
          <a:xfrm>
            <a:off x="3762375" y="4613077"/>
            <a:ext cx="7829550" cy="571500"/>
          </a:xfrm>
          <a:prstGeom prst="rect">
            <a:avLst/>
          </a:prstGeom>
          <a:noFill/>
        </p:spPr>
        <p:txBody>
          <a:bodyPr anchor="t" wrap="square" tIns="161925" bIns="161925" lIns="190500" rIns="190500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sz="1500" b="0" i="0">
                <a:solidFill>
                  <a:srgbClr val="344054"/>
                </a:solidFill>
                <a:latin typeface="Inter"/>
                <a:ea typeface="Inter"/>
              </a:rPr>
              <a:t>Revocation, patching, recovery and private investigation</a:t>
            </a:r>
            <a:endParaRPr lang="en-US"/>
          </a:p>
        </p:txBody>
      </p:sp>
      <p:sp>
        <p:nvSpPr>
          <p:cNvPr id="858" name="Shape 858"/>
          <p:cNvSpPr/>
          <p:nvPr/>
        </p:nvSpPr>
        <p:spPr>
          <a:xfrm>
            <a:off x="609600" y="5375077"/>
            <a:ext cx="10991850" cy="3000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363"/>
              </a:lnSpc>
              <a:buNone/>
            </a:pPr>
            <a:r>
              <a:rPr sz="1575" b="0" i="0">
                <a:solidFill>
                  <a:srgbClr val="1647D8"/>
                </a:solidFill>
                <a:latin typeface="Inter"/>
                <a:ea typeface="Inter"/>
              </a:rPr>
              <a:t>A specialist model cannot override a hard deny or supply missing approval.</a:t>
            </a:r>
            <a:endParaRPr lang="en-US"/>
          </a:p>
        </p:txBody>
      </p:sp>
      <p:pic>
        <p:nvPicPr>
          <p:cNvPr id="215" name="Presenton Native Image 4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859" name="Shape 859"/>
          <p:cNvSpPr/>
          <p:nvPr/>
        </p:nvSpPr>
        <p:spPr>
          <a:xfrm>
            <a:off x="609600" y="6438900"/>
            <a:ext cx="6191399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Proposed acceptance categories • Architecture and thresholds not yet agreed • No total leakage-prevention claim</a:t>
            </a:r>
            <a:endParaRPr lang="en-US"/>
          </a:p>
        </p:txBody>
      </p:sp>
      <p:sp>
        <p:nvSpPr>
          <p:cNvPr id="860" name="Shape 860"/>
          <p:cNvSpPr/>
          <p:nvPr/>
        </p:nvSpPr>
        <p:spPr>
          <a:xfrm>
            <a:off x="11242477" y="6438900"/>
            <a:ext cx="358973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19 / 21</a:t>
            </a:r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862" name="Shape 862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863" name="Shape 863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APPENDIX / PRIMARY SOURCES</a:t>
            </a:r>
            <a:endParaRPr lang="en-US"/>
          </a:p>
        </p:txBody>
      </p:sp>
      <p:sp>
        <p:nvSpPr>
          <p:cNvPr id="864" name="Shape 864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Evidence behind the problem and timing.</a:t>
            </a:r>
            <a:endParaRPr lang="en-US"/>
          </a:p>
        </p:txBody>
      </p:sp>
      <p:pic>
        <p:nvPicPr>
          <p:cNvPr id="216" name="Presenton Native Image 50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1726109"/>
            <a:ext cx="10972800" cy="847725"/>
          </a:xfrm>
          <a:prstGeom prst="rect">
            <a:avLst/>
          </a:prstGeom>
        </p:spPr>
      </p:pic>
      <p:sp>
        <p:nvSpPr>
          <p:cNvPr id="865" name="Shape 865"/>
          <p:cNvSpPr/>
          <p:nvPr/>
        </p:nvSpPr>
        <p:spPr>
          <a:xfrm>
            <a:off x="609600" y="1868984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R1</a:t>
            </a:r>
            <a:endParaRPr lang="en-US"/>
          </a:p>
        </p:txBody>
      </p:sp>
      <p:sp>
        <p:nvSpPr>
          <p:cNvPr id="866" name="Shape 866"/>
          <p:cNvSpPr/>
          <p:nvPr/>
        </p:nvSpPr>
        <p:spPr>
          <a:xfrm>
            <a:off x="1247775" y="1868984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Microsoft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Custom-hook approval vulnerability and fix</a:t>
            </a:r>
            <a:endParaRPr lang="en-US"/>
          </a:p>
        </p:txBody>
      </p:sp>
      <p:sp>
        <p:nvSpPr>
          <p:cNvPr id="867" name="Shape 867"/>
          <p:cNvSpPr/>
          <p:nvPr/>
        </p:nvSpPr>
        <p:spPr>
          <a:xfrm>
            <a:off x="1247775" y="2192834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Disclosure; no exploitation established.</a:t>
            </a:r>
            <a:endParaRPr lang="en-US"/>
          </a:p>
        </p:txBody>
      </p:sp>
      <p:pic>
        <p:nvPicPr>
          <p:cNvPr id="217" name="Presenton Native Image 51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2573834"/>
            <a:ext cx="10972800" cy="847725"/>
          </a:xfrm>
          <a:prstGeom prst="rect">
            <a:avLst/>
          </a:prstGeom>
        </p:spPr>
      </p:pic>
      <p:sp>
        <p:nvSpPr>
          <p:cNvPr id="868" name="Shape 868"/>
          <p:cNvSpPr/>
          <p:nvPr/>
        </p:nvSpPr>
        <p:spPr>
          <a:xfrm>
            <a:off x="609600" y="2716709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R2</a:t>
            </a:r>
            <a:endParaRPr lang="en-US"/>
          </a:p>
        </p:txBody>
      </p:sp>
      <p:sp>
        <p:nvSpPr>
          <p:cNvPr id="869" name="Shape 869"/>
          <p:cNvSpPr/>
          <p:nvPr/>
        </p:nvSpPr>
        <p:spPr>
          <a:xfrm>
            <a:off x="1247775" y="2716709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Microsoft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Shared MCP permission grants and fix</a:t>
            </a:r>
            <a:endParaRPr lang="en-US"/>
          </a:p>
        </p:txBody>
      </p:sp>
      <p:sp>
        <p:nvSpPr>
          <p:cNvPr id="870" name="Shape 870"/>
          <p:cNvSpPr/>
          <p:nvPr/>
        </p:nvSpPr>
        <p:spPr>
          <a:xfrm>
            <a:off x="1247775" y="3040559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Disclosure; no exploitation established.</a:t>
            </a:r>
            <a:endParaRPr lang="en-US"/>
          </a:p>
        </p:txBody>
      </p:sp>
      <p:pic>
        <p:nvPicPr>
          <p:cNvPr id="218" name="Presenton Native Image 52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3421559"/>
            <a:ext cx="10972800" cy="847725"/>
          </a:xfrm>
          <a:prstGeom prst="rect">
            <a:avLst/>
          </a:prstGeom>
        </p:spPr>
      </p:pic>
      <p:sp>
        <p:nvSpPr>
          <p:cNvPr id="871" name="Shape 871"/>
          <p:cNvSpPr/>
          <p:nvPr/>
        </p:nvSpPr>
        <p:spPr>
          <a:xfrm>
            <a:off x="609600" y="3564434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R3</a:t>
            </a:r>
            <a:endParaRPr lang="en-US"/>
          </a:p>
        </p:txBody>
      </p:sp>
      <p:sp>
        <p:nvSpPr>
          <p:cNvPr id="872" name="Shape 872"/>
          <p:cNvSpPr/>
          <p:nvPr/>
        </p:nvSpPr>
        <p:spPr>
          <a:xfrm>
            <a:off x="1247775" y="3564434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Google / DORA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Balancing AI tensions: Google engineer responses</a:t>
            </a:r>
            <a:endParaRPr lang="en-US"/>
          </a:p>
        </p:txBody>
      </p:sp>
      <p:sp>
        <p:nvSpPr>
          <p:cNvPr id="873" name="Shape 873"/>
          <p:cNvSpPr/>
          <p:nvPr/>
        </p:nvSpPr>
        <p:spPr>
          <a:xfrm>
            <a:off x="1247775" y="3888284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Qualitative self-report; not a causal slowdown estimate.</a:t>
            </a:r>
            <a:endParaRPr lang="en-US"/>
          </a:p>
        </p:txBody>
      </p:sp>
      <p:pic>
        <p:nvPicPr>
          <p:cNvPr id="219" name="Presenton Native Image 53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4269284"/>
            <a:ext cx="10972800" cy="847725"/>
          </a:xfrm>
          <a:prstGeom prst="rect">
            <a:avLst/>
          </a:prstGeom>
        </p:spPr>
      </p:pic>
      <p:sp>
        <p:nvSpPr>
          <p:cNvPr id="874" name="Shape 874"/>
          <p:cNvSpPr/>
          <p:nvPr/>
        </p:nvSpPr>
        <p:spPr>
          <a:xfrm>
            <a:off x="609600" y="4412159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R4</a:t>
            </a:r>
            <a:endParaRPr lang="en-US"/>
          </a:p>
        </p:txBody>
      </p:sp>
      <p:sp>
        <p:nvSpPr>
          <p:cNvPr id="875" name="Shape 875"/>
          <p:cNvSpPr/>
          <p:nvPr/>
        </p:nvSpPr>
        <p:spPr>
          <a:xfrm>
            <a:off x="1247775" y="4412159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GitHub / Accenture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Pilot, controlled comparison and rollout</a:t>
            </a:r>
            <a:endParaRPr lang="en-US"/>
          </a:p>
        </p:txBody>
      </p:sp>
      <p:sp>
        <p:nvSpPr>
          <p:cNvPr id="876" name="Shape 876"/>
          <p:cNvSpPr/>
          <p:nvPr/>
        </p:nvSpPr>
        <p:spPr>
          <a:xfrm>
            <a:off x="1247775" y="4736009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Vendor/customer story; no universal uplift inferred.</a:t>
            </a:r>
            <a:endParaRPr lang="en-US"/>
          </a:p>
        </p:txBody>
      </p:sp>
      <p:pic>
        <p:nvPicPr>
          <p:cNvPr id="220" name="Presenton Native Image 54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5117009"/>
            <a:ext cx="10972800" cy="847725"/>
          </a:xfrm>
          <a:prstGeom prst="rect">
            <a:avLst/>
          </a:prstGeom>
        </p:spPr>
      </p:pic>
      <p:sp>
        <p:nvSpPr>
          <p:cNvPr id="877" name="Shape 877"/>
          <p:cNvSpPr/>
          <p:nvPr/>
        </p:nvSpPr>
        <p:spPr>
          <a:xfrm>
            <a:off x="609600" y="5259884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R5</a:t>
            </a:r>
            <a:endParaRPr lang="en-US"/>
          </a:p>
        </p:txBody>
      </p:sp>
      <p:sp>
        <p:nvSpPr>
          <p:cNvPr id="878" name="Shape 878"/>
          <p:cNvSpPr/>
          <p:nvPr/>
        </p:nvSpPr>
        <p:spPr>
          <a:xfrm>
            <a:off x="1247775" y="5259884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DORA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AI ROI framework and calculator</a:t>
            </a:r>
            <a:endParaRPr lang="en-US"/>
          </a:p>
        </p:txBody>
      </p:sp>
      <p:sp>
        <p:nvSpPr>
          <p:cNvPr id="879" name="Shape 879"/>
          <p:cNvSpPr/>
          <p:nvPr/>
        </p:nvSpPr>
        <p:spPr>
          <a:xfrm>
            <a:off x="1247775" y="5583734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Planning model; not realized company savings.</a:t>
            </a:r>
            <a:endParaRPr lang="en-US"/>
          </a:p>
        </p:txBody>
      </p:sp>
      <p:pic>
        <p:nvPicPr>
          <p:cNvPr id="221" name="Presenton Native Image 5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880" name="Shape 880"/>
          <p:cNvSpPr/>
          <p:nvPr/>
        </p:nvSpPr>
        <p:spPr>
          <a:xfrm>
            <a:off x="609600" y="6438900"/>
            <a:ext cx="6185595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Sources reviewed October 21, 2026 • Links are clickable • Full URLs and presenter guide in companion Markdown</a:t>
            </a:r>
            <a:endParaRPr lang="en-US"/>
          </a:p>
        </p:txBody>
      </p:sp>
      <p:sp>
        <p:nvSpPr>
          <p:cNvPr id="881" name="Shape 881"/>
          <p:cNvSpPr/>
          <p:nvPr/>
        </p:nvSpPr>
        <p:spPr>
          <a:xfrm>
            <a:off x="11210479" y="6438900"/>
            <a:ext cx="390971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20 / 21</a:t>
            </a:r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Shape 882"/>
          <p:cNvSpPr/>
          <p:nvPr/>
        </p:nvSpPr>
        <p:spPr>
          <a:xfrm>
            <a:off x="609600" y="238125"/>
            <a:ext cx="839837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WORKPLANE</a:t>
            </a:r>
            <a:endParaRPr lang="en-US"/>
          </a:p>
        </p:txBody>
      </p:sp>
      <p:sp>
        <p:nvSpPr>
          <p:cNvPr id="883" name="Shape 883"/>
          <p:cNvSpPr/>
          <p:nvPr/>
        </p:nvSpPr>
        <p:spPr>
          <a:xfrm>
            <a:off x="9294912" y="238125"/>
            <a:ext cx="2306538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 spc="75">
                <a:solidFill>
                  <a:srgbClr val="667085"/>
                </a:solidFill>
                <a:latin typeface="Inter"/>
                <a:ea typeface="Inter"/>
              </a:rPr>
              <a:t>INVESTOR DISCUSSION • OCT 2026</a:t>
            </a:r>
            <a:endParaRPr lang="en-US"/>
          </a:p>
        </p:txBody>
      </p:sp>
      <p:sp>
        <p:nvSpPr>
          <p:cNvPr id="884" name="Shape 884"/>
          <p:cNvSpPr/>
          <p:nvPr/>
        </p:nvSpPr>
        <p:spPr>
          <a:xfrm>
            <a:off x="609600" y="752475"/>
            <a:ext cx="10991850" cy="1857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463"/>
              </a:lnSpc>
              <a:buNone/>
            </a:pPr>
            <a:r>
              <a:rPr sz="975" b="1" i="0" spc="150">
                <a:solidFill>
                  <a:srgbClr val="1647D8"/>
                </a:solidFill>
                <a:latin typeface="Sora"/>
                <a:ea typeface="Sora"/>
              </a:rPr>
              <a:t>APPENDIX / COMPARISON AND ASSUMPTIONS</a:t>
            </a:r>
            <a:endParaRPr lang="en-US"/>
          </a:p>
        </p:txBody>
      </p:sp>
      <p:sp>
        <p:nvSpPr>
          <p:cNvPr id="885" name="Shape 885"/>
          <p:cNvSpPr/>
          <p:nvPr/>
        </p:nvSpPr>
        <p:spPr>
          <a:xfrm>
            <a:off x="609600" y="1071563"/>
            <a:ext cx="10687050" cy="464046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654"/>
              </a:lnSpc>
              <a:buNone/>
            </a:pPr>
            <a:r>
              <a:rPr sz="3150" b="1" i="0" spc="0">
                <a:solidFill>
                  <a:srgbClr val="182230"/>
                </a:solidFill>
                <a:latin typeface="Sora"/>
                <a:ea typeface="Sora"/>
              </a:rPr>
              <a:t>The commercial thesis remains to be validated.</a:t>
            </a:r>
            <a:endParaRPr lang="en-US"/>
          </a:p>
        </p:txBody>
      </p:sp>
      <p:pic>
        <p:nvPicPr>
          <p:cNvPr id="222" name="Presenton Native Image 56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1707059"/>
            <a:ext cx="10972800" cy="847725"/>
          </a:xfrm>
          <a:prstGeom prst="rect">
            <a:avLst/>
          </a:prstGeom>
        </p:spPr>
      </p:pic>
      <p:sp>
        <p:nvSpPr>
          <p:cNvPr id="886" name="Shape 886"/>
          <p:cNvSpPr/>
          <p:nvPr/>
        </p:nvSpPr>
        <p:spPr>
          <a:xfrm>
            <a:off x="609600" y="1849934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R6</a:t>
            </a:r>
            <a:endParaRPr lang="en-US"/>
          </a:p>
        </p:txBody>
      </p:sp>
      <p:sp>
        <p:nvSpPr>
          <p:cNvPr id="887" name="Shape 887"/>
          <p:cNvSpPr/>
          <p:nvPr/>
        </p:nvSpPr>
        <p:spPr>
          <a:xfrm>
            <a:off x="1247775" y="1849934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Coder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Released AI governance documentation</a:t>
            </a:r>
            <a:endParaRPr lang="en-US"/>
          </a:p>
        </p:txBody>
      </p:sp>
      <p:sp>
        <p:nvSpPr>
          <p:cNvPr id="888" name="Shape 888"/>
          <p:cNvSpPr/>
          <p:nvPr/>
        </p:nvSpPr>
        <p:spPr>
          <a:xfrm>
            <a:off x="1247775" y="2173784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Edition and commercial boundaries apply.</a:t>
            </a:r>
            <a:endParaRPr lang="en-US"/>
          </a:p>
        </p:txBody>
      </p:sp>
      <p:pic>
        <p:nvPicPr>
          <p:cNvPr id="223" name="Presenton Native Image 57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2554784"/>
            <a:ext cx="10972800" cy="847725"/>
          </a:xfrm>
          <a:prstGeom prst="rect">
            <a:avLst/>
          </a:prstGeom>
        </p:spPr>
      </p:pic>
      <p:sp>
        <p:nvSpPr>
          <p:cNvPr id="889" name="Shape 889"/>
          <p:cNvSpPr/>
          <p:nvPr/>
        </p:nvSpPr>
        <p:spPr>
          <a:xfrm>
            <a:off x="609600" y="2697659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R7</a:t>
            </a:r>
            <a:endParaRPr lang="en-US"/>
          </a:p>
        </p:txBody>
      </p:sp>
      <p:sp>
        <p:nvSpPr>
          <p:cNvPr id="890" name="Shape 890"/>
          <p:cNvSpPr/>
          <p:nvPr/>
        </p:nvSpPr>
        <p:spPr>
          <a:xfrm>
            <a:off x="1247775" y="2697659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Agyn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Company management console</a:t>
            </a:r>
            <a:endParaRPr lang="en-US"/>
          </a:p>
        </p:txBody>
      </p:sp>
      <p:sp>
        <p:nvSpPr>
          <p:cNvPr id="891" name="Shape 891"/>
          <p:cNvSpPr/>
          <p:nvPr/>
        </p:nvSpPr>
        <p:spPr>
          <a:xfrm>
            <a:off x="1247775" y="3021509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Public documentation; no hands-on comparison performed.</a:t>
            </a:r>
            <a:endParaRPr lang="en-US"/>
          </a:p>
        </p:txBody>
      </p:sp>
      <p:pic>
        <p:nvPicPr>
          <p:cNvPr id="224" name="Presenton Native Image 58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3402509"/>
            <a:ext cx="10972800" cy="847725"/>
          </a:xfrm>
          <a:prstGeom prst="rect">
            <a:avLst/>
          </a:prstGeom>
        </p:spPr>
      </p:pic>
      <p:sp>
        <p:nvSpPr>
          <p:cNvPr id="892" name="Shape 892"/>
          <p:cNvSpPr/>
          <p:nvPr/>
        </p:nvSpPr>
        <p:spPr>
          <a:xfrm>
            <a:off x="609600" y="3545384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R8</a:t>
            </a:r>
            <a:endParaRPr lang="en-US"/>
          </a:p>
        </p:txBody>
      </p:sp>
      <p:sp>
        <p:nvSpPr>
          <p:cNvPr id="893" name="Shape 893"/>
          <p:cNvSpPr/>
          <p:nvPr/>
        </p:nvSpPr>
        <p:spPr>
          <a:xfrm>
            <a:off x="1247775" y="3545384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Preloop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Product scope and edition matrix</a:t>
            </a:r>
            <a:endParaRPr lang="en-US"/>
          </a:p>
        </p:txBody>
      </p:sp>
      <p:sp>
        <p:nvSpPr>
          <p:cNvPr id="894" name="Shape 894"/>
          <p:cNvSpPr/>
          <p:nvPr/>
        </p:nvSpPr>
        <p:spPr>
          <a:xfrm>
            <a:off x="1247775" y="3869234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Features differ by edition.</a:t>
            </a:r>
            <a:endParaRPr lang="en-US"/>
          </a:p>
        </p:txBody>
      </p:sp>
      <p:pic>
        <p:nvPicPr>
          <p:cNvPr id="225" name="Presenton Native Image 59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4250234"/>
            <a:ext cx="10972800" cy="847725"/>
          </a:xfrm>
          <a:prstGeom prst="rect">
            <a:avLst/>
          </a:prstGeom>
        </p:spPr>
      </p:pic>
      <p:sp>
        <p:nvSpPr>
          <p:cNvPr id="895" name="Shape 895"/>
          <p:cNvSpPr/>
          <p:nvPr/>
        </p:nvSpPr>
        <p:spPr>
          <a:xfrm>
            <a:off x="609600" y="4393109"/>
            <a:ext cx="657225" cy="552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647D8"/>
                </a:solidFill>
                <a:latin typeface="Sora"/>
                <a:ea typeface="Sora"/>
              </a:rPr>
              <a:t>R9</a:t>
            </a:r>
            <a:endParaRPr lang="en-US"/>
          </a:p>
        </p:txBody>
      </p:sp>
      <p:sp>
        <p:nvSpPr>
          <p:cNvPr id="896" name="Shape 896"/>
          <p:cNvSpPr/>
          <p:nvPr/>
        </p:nvSpPr>
        <p:spPr>
          <a:xfrm>
            <a:off x="1247775" y="4393109"/>
            <a:ext cx="10353675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1" i="0">
                <a:solidFill>
                  <a:srgbClr val="182230"/>
                </a:solidFill>
                <a:latin typeface="Inter"/>
                <a:ea typeface="Inter"/>
              </a:rPr>
              <a:t>OpenHands</a:t>
            </a:r>
            <a:r>
              <a:rPr sz="1500" b="0" i="0">
                <a:solidFill>
                  <a:srgbClr val="182230"/>
                </a:solidFill>
                <a:latin typeface="Inter"/>
                <a:ea typeface="Inter"/>
              </a:rPr>
              <a:t xml:space="preserve"> / </a:t>
            </a:r>
            <a:r>
              <a:rPr sz="1500" b="0" i="0" u="sng">
                <a:solidFill>
                  <a:srgbClr val="1647D8"/>
                </a:solidFill>
                <a:uFill>
                  <a:solidFill>
                    <a:srgbClr val="1647D8"/>
                  </a:solidFill>
                </a:uFill>
                <a:latin typeface="Inter"/>
                <a:ea typeface="Inter"/>
              </a:rPr>
              <a:t>Enterprise versus open source</a:t>
            </a:r>
            <a:endParaRPr lang="en-US"/>
          </a:p>
        </p:txBody>
      </p:sp>
      <p:sp>
        <p:nvSpPr>
          <p:cNvPr id="897" name="Shape 897"/>
          <p:cNvSpPr/>
          <p:nvPr/>
        </p:nvSpPr>
        <p:spPr>
          <a:xfrm>
            <a:off x="1247775" y="4716959"/>
            <a:ext cx="10353675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0" i="0">
                <a:solidFill>
                  <a:srgbClr val="667085"/>
                </a:solidFill>
                <a:latin typeface="Inter"/>
                <a:ea typeface="Inter"/>
              </a:rPr>
              <a:t>Enterprise package distinct from OSS components.</a:t>
            </a:r>
            <a:endParaRPr lang="en-US"/>
          </a:p>
        </p:txBody>
      </p:sp>
      <p:sp>
        <p:nvSpPr>
          <p:cNvPr id="898" name="Shape 898"/>
          <p:cNvSpPr/>
          <p:nvPr/>
        </p:nvSpPr>
        <p:spPr>
          <a:xfrm>
            <a:off x="609600" y="5278934"/>
            <a:ext cx="10972800" cy="822722"/>
          </a:xfrm>
          <a:prstGeom prst="rect">
            <a:avLst/>
          </a:prstGeom>
          <a:solidFill>
            <a:srgbClr val="DCE8FF"/>
          </a:solidFill>
        </p:spPr>
        <p:txBody>
          <a:bodyPr/>
          <a:lstStyle/>
          <a:p/>
        </p:txBody>
      </p:sp>
      <p:sp>
        <p:nvSpPr>
          <p:cNvPr id="899" name="Shape 899"/>
          <p:cNvSpPr/>
          <p:nvPr/>
        </p:nvSpPr>
        <p:spPr>
          <a:xfrm>
            <a:off x="781050" y="5450384"/>
            <a:ext cx="10648950" cy="47982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90"/>
              </a:lnSpc>
              <a:buNone/>
            </a:pPr>
            <a:r>
              <a:rPr sz="1350" b="1" i="0">
                <a:solidFill>
                  <a:srgbClr val="182230"/>
                </a:solidFill>
                <a:latin typeface="Inter"/>
                <a:ea typeface="Inter"/>
              </a:rPr>
              <a:t>Assumed:</a:t>
            </a:r>
            <a:r>
              <a:rPr sz="1350" b="0" i="0">
                <a:solidFill>
                  <a:srgbClr val="182230"/>
                </a:solidFill>
                <a:latin typeface="Inter"/>
                <a:ea typeface="Inter"/>
              </a:rPr>
              <a:t xml:space="preserve"> working brand, ICP, pricing, opportunity scenarios, rollout timing and funding.</a:t>
            </a:r>
            <a:r>
              <a:rPr sz="1350" b="0" i="0">
                <a:solidFill>
                  <a:srgbClr val="182230"/>
                </a:solidFill>
                <a:latin typeface="Inter"/>
                <a:ea typeface="Inter"/>
              </a:rPr>
              <a:t xml:space="preserve">
</a:t>
            </a:r>
            <a:r>
              <a:rPr sz="1350" b="1" i="0">
                <a:solidFill>
                  <a:srgbClr val="182230"/>
                </a:solidFill>
                <a:latin typeface="Inter"/>
                <a:ea typeface="Inter"/>
              </a:rPr>
              <a:t>Before circulation:</a:t>
            </a:r>
            <a:r>
              <a:rPr sz="1350" b="0" i="0">
                <a:solidFill>
                  <a:srgbClr val="182230"/>
                </a:solidFill>
                <a:latin typeface="Inter"/>
                <a:ea typeface="Inter"/>
              </a:rPr>
              <a:t xml:space="preserve"> confirm team, market counts, buyer demand and technical promises.</a:t>
            </a:r>
            <a:endParaRPr lang="en-US"/>
          </a:p>
        </p:txBody>
      </p:sp>
      <p:pic>
        <p:nvPicPr>
          <p:cNvPr id="226" name="Presenton Native Image 6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6315075"/>
            <a:ext cx="10972800" cy="295275"/>
          </a:xfrm>
          <a:prstGeom prst="rect">
            <a:avLst/>
          </a:prstGeom>
        </p:spPr>
      </p:pic>
      <p:sp>
        <p:nvSpPr>
          <p:cNvPr id="900" name="Shape 900"/>
          <p:cNvSpPr/>
          <p:nvPr/>
        </p:nvSpPr>
        <p:spPr>
          <a:xfrm>
            <a:off x="609600" y="6438900"/>
            <a:ext cx="6127254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0" i="0">
                <a:solidFill>
                  <a:srgbClr val="667085"/>
                </a:solidFill>
                <a:latin typeface="Inter"/>
                <a:ea typeface="Inter"/>
              </a:rPr>
              <a:t>Concept-stage business narrative • Not an approved architecture, forecast or production-security representation</a:t>
            </a:r>
            <a:endParaRPr lang="en-US"/>
          </a:p>
        </p:txBody>
      </p:sp>
      <p:sp>
        <p:nvSpPr>
          <p:cNvPr id="901" name="Shape 901"/>
          <p:cNvSpPr/>
          <p:nvPr/>
        </p:nvSpPr>
        <p:spPr>
          <a:xfrm>
            <a:off x="11248281" y="6438900"/>
            <a:ext cx="353169" cy="1714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350"/>
              </a:lnSpc>
              <a:buNone/>
            </a:pPr>
            <a:r>
              <a:rPr sz="900" b="1" i="0">
                <a:solidFill>
                  <a:srgbClr val="667085"/>
                </a:solidFill>
                <a:latin typeface="Sora"/>
                <a:ea typeface="Sora"/>
              </a:rPr>
              <a:t>21 / 21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mitype="http://purl.org/dcmitype/" xmlns:dcterms="http://purl.org/dc/terms/" xmlns:xsi="http://www.w3.org/2001/XMLSchema-instance">
  <dc:title>Workplane — The approved path into AI work</dc:title>
  <dc:subject>Generated by Presenton export-core</dc:subject>
  <dc:creator>Presenton</dc:creator>
  <cp:lastModifiedBy>Presenton</cp:lastModifiedBy>
  <dcterms:created xsi:type="dcterms:W3CDTF">2026-10-21T17:00:47.813Z</dcterms:created>
  <dcterms:modified xsi:type="dcterms:W3CDTF">2026-10-21T17:00:47.813Z</dcterms:modified>
</cp:coreProperties>
</file>